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71" r:id="rId2"/>
    <p:sldId id="443" r:id="rId3"/>
    <p:sldId id="360" r:id="rId4"/>
    <p:sldId id="453" r:id="rId5"/>
    <p:sldId id="444" r:id="rId6"/>
    <p:sldId id="454" r:id="rId7"/>
    <p:sldId id="447" r:id="rId8"/>
    <p:sldId id="449" r:id="rId9"/>
    <p:sldId id="450" r:id="rId10"/>
    <p:sldId id="451" r:id="rId11"/>
    <p:sldId id="452" r:id="rId12"/>
    <p:sldId id="445" r:id="rId13"/>
    <p:sldId id="439" r:id="rId14"/>
    <p:sldId id="440" r:id="rId15"/>
    <p:sldId id="441" r:id="rId16"/>
    <p:sldId id="442" r:id="rId17"/>
    <p:sldId id="448" r:id="rId18"/>
    <p:sldId id="431" r:id="rId19"/>
    <p:sldId id="304" r:id="rId20"/>
  </p:sldIdLst>
  <p:sldSz cx="9144000" cy="5143500" type="screen16x9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A800"/>
    <a:srgbClr val="C00000"/>
    <a:srgbClr val="000000"/>
    <a:srgbClr val="00B050"/>
    <a:srgbClr val="B1063A"/>
    <a:srgbClr val="92D050"/>
    <a:srgbClr val="FB80A6"/>
    <a:srgbClr val="0070C0"/>
    <a:srgbClr val="FFFF00"/>
    <a:srgbClr val="FB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97"/>
    <p:restoredTop sz="95890"/>
  </p:normalViewPr>
  <p:slideViewPr>
    <p:cSldViewPr snapToObjects="1" showGuides="1">
      <p:cViewPr varScale="1">
        <p:scale>
          <a:sx n="162" d="100"/>
          <a:sy n="162" d="100"/>
        </p:scale>
        <p:origin x="896" y="192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4/24/26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4/24/26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63145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47959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5981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9334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6601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2058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Introduction to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3 –</a:t>
            </a:r>
            <a:r>
              <a:rPr lang="en-US" sz="800" noProof="0" dirty="0"/>
              <a:t> Graphical Models: Independence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/19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9.png"/><Relationship Id="rId2" Type="http://schemas.openxmlformats.org/officeDocument/2006/relationships/image" Target="../media/image3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7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9.png"/><Relationship Id="rId7" Type="http://schemas.openxmlformats.org/officeDocument/2006/relationships/image" Target="../media/image2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41.png"/><Relationship Id="rId10" Type="http://schemas.openxmlformats.org/officeDocument/2006/relationships/image" Target="../media/image30.png"/><Relationship Id="rId4" Type="http://schemas.openxmlformats.org/officeDocument/2006/relationships/image" Target="../media/image40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26" Type="http://schemas.openxmlformats.org/officeDocument/2006/relationships/image" Target="../media/image71.png"/><Relationship Id="rId3" Type="http://schemas.openxmlformats.org/officeDocument/2006/relationships/image" Target="../media/image48.png"/><Relationship Id="rId21" Type="http://schemas.openxmlformats.org/officeDocument/2006/relationships/image" Target="../media/image6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29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24" Type="http://schemas.openxmlformats.org/officeDocument/2006/relationships/image" Target="../media/image69.png"/><Relationship Id="rId32" Type="http://schemas.openxmlformats.org/officeDocument/2006/relationships/image" Target="../media/image77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28" Type="http://schemas.openxmlformats.org/officeDocument/2006/relationships/image" Target="../media/image73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31" Type="http://schemas.openxmlformats.org/officeDocument/2006/relationships/image" Target="../media/image76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Relationship Id="rId27" Type="http://schemas.openxmlformats.org/officeDocument/2006/relationships/image" Target="../media/image72.png"/><Relationship Id="rId30" Type="http://schemas.openxmlformats.org/officeDocument/2006/relationships/image" Target="../media/image7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36.svg"/><Relationship Id="rId3" Type="http://schemas.openxmlformats.org/officeDocument/2006/relationships/image" Target="../media/image84.png"/><Relationship Id="rId21" Type="http://schemas.openxmlformats.org/officeDocument/2006/relationships/image" Target="../media/image39.sv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35.svg"/><Relationship Id="rId33" Type="http://schemas.openxmlformats.org/officeDocument/2006/relationships/image" Target="../media/image114.png"/><Relationship Id="rId2" Type="http://schemas.openxmlformats.org/officeDocument/2006/relationships/image" Target="../media/image83.png"/><Relationship Id="rId16" Type="http://schemas.openxmlformats.org/officeDocument/2006/relationships/image" Target="../media/image34.svg"/><Relationship Id="rId20" Type="http://schemas.openxmlformats.org/officeDocument/2006/relationships/image" Target="../media/image3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33.svg"/><Relationship Id="rId23" Type="http://schemas.openxmlformats.org/officeDocument/2006/relationships/image" Target="../media/image43.svg"/><Relationship Id="rId10" Type="http://schemas.openxmlformats.org/officeDocument/2006/relationships/image" Target="../media/image91.png"/><Relationship Id="rId19" Type="http://schemas.openxmlformats.org/officeDocument/2006/relationships/image" Target="../media/image37.sv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32.svg"/><Relationship Id="rId22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4.png"/><Relationship Id="rId18" Type="http://schemas.openxmlformats.org/officeDocument/2006/relationships/image" Target="../media/image48.svg"/><Relationship Id="rId3" Type="http://schemas.openxmlformats.org/officeDocument/2006/relationships/image" Target="../media/image84.png"/><Relationship Id="rId21" Type="http://schemas.openxmlformats.org/officeDocument/2006/relationships/image" Target="../media/image51.svg"/><Relationship Id="rId7" Type="http://schemas.openxmlformats.org/officeDocument/2006/relationships/image" Target="../media/image89.png"/><Relationship Id="rId17" Type="http://schemas.openxmlformats.org/officeDocument/2006/relationships/image" Target="../media/image47.svg"/><Relationship Id="rId33" Type="http://schemas.openxmlformats.org/officeDocument/2006/relationships/image" Target="../media/image134.png"/><Relationship Id="rId2" Type="http://schemas.openxmlformats.org/officeDocument/2006/relationships/image" Target="../media/image83.png"/><Relationship Id="rId16" Type="http://schemas.openxmlformats.org/officeDocument/2006/relationships/image" Target="../media/image46.svg"/><Relationship Id="rId20" Type="http://schemas.openxmlformats.org/officeDocument/2006/relationships/image" Target="../media/image5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3.png"/><Relationship Id="rId32" Type="http://schemas.openxmlformats.org/officeDocument/2006/relationships/image" Target="../media/image133.png"/><Relationship Id="rId5" Type="http://schemas.openxmlformats.org/officeDocument/2006/relationships/image" Target="../media/image86.png"/><Relationship Id="rId15" Type="http://schemas.openxmlformats.org/officeDocument/2006/relationships/image" Target="../media/image45.svg"/><Relationship Id="rId10" Type="http://schemas.openxmlformats.org/officeDocument/2006/relationships/image" Target="../media/image92.png"/><Relationship Id="rId19" Type="http://schemas.openxmlformats.org/officeDocument/2006/relationships/image" Target="../media/image49.svg"/><Relationship Id="rId4" Type="http://schemas.openxmlformats.org/officeDocument/2006/relationships/image" Target="../media/image85.png"/><Relationship Id="rId9" Type="http://schemas.openxmlformats.org/officeDocument/2006/relationships/image" Target="../media/image91.png"/><Relationship Id="rId14" Type="http://schemas.openxmlformats.org/officeDocument/2006/relationships/image" Target="../media/image44.svg"/><Relationship Id="rId22" Type="http://schemas.openxmlformats.org/officeDocument/2006/relationships/image" Target="../media/image5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5.png"/><Relationship Id="rId18" Type="http://schemas.openxmlformats.org/officeDocument/2006/relationships/image" Target="../media/image148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12" Type="http://schemas.openxmlformats.org/officeDocument/2006/relationships/image" Target="../media/image144.png"/><Relationship Id="rId17" Type="http://schemas.openxmlformats.org/officeDocument/2006/relationships/image" Target="../media/image147.png"/><Relationship Id="rId2" Type="http://schemas.openxmlformats.org/officeDocument/2006/relationships/image" Target="../media/image530.png"/><Relationship Id="rId16" Type="http://schemas.openxmlformats.org/officeDocument/2006/relationships/image" Target="../media/image14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11" Type="http://schemas.openxmlformats.org/officeDocument/2006/relationships/image" Target="../media/image143.png"/><Relationship Id="rId5" Type="http://schemas.openxmlformats.org/officeDocument/2006/relationships/image" Target="../media/image139.png"/><Relationship Id="rId15" Type="http://schemas.openxmlformats.org/officeDocument/2006/relationships/image" Target="../media/image520.png"/><Relationship Id="rId10" Type="http://schemas.openxmlformats.org/officeDocument/2006/relationships/image" Target="../media/image610.png"/><Relationship Id="rId4" Type="http://schemas.openxmlformats.org/officeDocument/2006/relationships/image" Target="../media/image138.png"/><Relationship Id="rId9" Type="http://schemas.openxmlformats.org/officeDocument/2006/relationships/image" Target="../media/image136.png"/><Relationship Id="rId14" Type="http://schemas.openxmlformats.org/officeDocument/2006/relationships/image" Target="../media/image14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0.png"/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3" Type="http://schemas.openxmlformats.org/officeDocument/2006/relationships/image" Target="../media/image150.png"/><Relationship Id="rId7" Type="http://schemas.openxmlformats.org/officeDocument/2006/relationships/image" Target="../media/image750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image" Target="../media/image149.png"/><Relationship Id="rId16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11" Type="http://schemas.openxmlformats.org/officeDocument/2006/relationships/image" Target="../media/image156.png"/><Relationship Id="rId5" Type="http://schemas.openxmlformats.org/officeDocument/2006/relationships/image" Target="../media/image152.png"/><Relationship Id="rId15" Type="http://schemas.openxmlformats.org/officeDocument/2006/relationships/image" Target="../media/image160.png"/><Relationship Id="rId10" Type="http://schemas.openxmlformats.org/officeDocument/2006/relationships/image" Target="../media/image155.png"/><Relationship Id="rId4" Type="http://schemas.openxmlformats.org/officeDocument/2006/relationships/image" Target="../media/image151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3" Type="http://schemas.openxmlformats.org/officeDocument/2006/relationships/image" Target="../media/image54.jpe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2" Type="http://schemas.openxmlformats.org/officeDocument/2006/relationships/image" Target="../media/image164.png"/><Relationship Id="rId16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5" Type="http://schemas.openxmlformats.org/officeDocument/2006/relationships/image" Target="../media/image177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0.pn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12" Type="http://schemas.openxmlformats.org/officeDocument/2006/relationships/image" Target="../media/image189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3.png"/><Relationship Id="rId11" Type="http://schemas.openxmlformats.org/officeDocument/2006/relationships/image" Target="../media/image188.png"/><Relationship Id="rId5" Type="http://schemas.openxmlformats.org/officeDocument/2006/relationships/image" Target="../media/image182.png"/><Relationship Id="rId10" Type="http://schemas.openxmlformats.org/officeDocument/2006/relationships/image" Target="../media/image187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Herbrich, Rainer Schlosser</a:t>
            </a:r>
          </a:p>
          <a:p>
            <a:pPr algn="l"/>
            <a:r>
              <a:rPr lang="en-US" dirty="0"/>
              <a:t>Graphical Models: Independence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dirty="0"/>
              <a:t>Graphical Models</a:t>
            </a:r>
          </a:p>
          <a:p>
            <a:pPr marL="342900" indent="-342900"/>
            <a:r>
              <a:rPr lang="en-US" altLang="x-none" dirty="0"/>
              <a:t>Bayesian Networks</a:t>
            </a:r>
          </a:p>
          <a:p>
            <a:pPr marL="342900" indent="-342900"/>
            <a:r>
              <a:rPr lang="en-US" altLang="x-none" dirty="0"/>
              <a:t>Conditional Independence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06575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b="1" dirty="0"/>
              <a:t>Graphical Models</a:t>
            </a:r>
          </a:p>
          <a:p>
            <a:pPr marL="342900" indent="-342900"/>
            <a:r>
              <a:rPr lang="en-US" altLang="x-none" dirty="0"/>
              <a:t>Bayesian Networks</a:t>
            </a:r>
          </a:p>
          <a:p>
            <a:pPr marL="342900" indent="-342900"/>
            <a:r>
              <a:rPr lang="en-US" altLang="x-none" dirty="0"/>
              <a:t>Conditional Independence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92997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26BE7A2-E9E9-5F32-3F0F-3BFAD6EE39A6}"/>
              </a:ext>
            </a:extLst>
          </p:cNvPr>
          <p:cNvSpPr/>
          <p:nvPr/>
        </p:nvSpPr>
        <p:spPr bwMode="gray">
          <a:xfrm>
            <a:off x="7211865" y="3021806"/>
            <a:ext cx="1705070" cy="1574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EC5A12F-2574-D43A-9BAF-5C50BFC4B39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813624" cy="3563938"/>
              </a:xfrm>
            </p:spPr>
            <p:txBody>
              <a:bodyPr/>
              <a:lstStyle/>
              <a:p>
                <a:r>
                  <a:rPr lang="en-US" b="1" dirty="0"/>
                  <a:t>Challenge</a:t>
                </a:r>
                <a:r>
                  <a:rPr lang="en-US" dirty="0"/>
                  <a:t>: How to formulate complex likelihoods/data models &amp; priors for </a:t>
                </a:r>
                <a:r>
                  <a:rPr lang="en-US" i="1" dirty="0"/>
                  <a:t>actual </a:t>
                </a:r>
                <a:r>
                  <a:rPr lang="en-US" dirty="0"/>
                  <a:t>data?</a:t>
                </a:r>
              </a:p>
              <a:p>
                <a:pPr lvl="1"/>
                <a:r>
                  <a:rPr lang="en-US" sz="1200" b="1" dirty="0"/>
                  <a:t>Example 1</a:t>
                </a:r>
                <a:r>
                  <a:rPr lang="en-US" sz="1200" dirty="0"/>
                  <a:t>: Match outcomes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r>
                  <a:rPr lang="en-US" sz="1200" dirty="0"/>
                  <a:t> (data) for a head-to-head match between two players</a:t>
                </a:r>
              </a:p>
              <a:p>
                <a:pPr lvl="2"/>
                <a:r>
                  <a:rPr lang="en-US" sz="1200" b="1" dirty="0"/>
                  <a:t>Prior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sz="1200" dirty="0"/>
              </a:p>
              <a:p>
                <a:pPr lvl="2"/>
                <a:r>
                  <a:rPr lang="en-US" sz="1200" b="1" dirty="0"/>
                  <a:t>Likelihood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&gt;0</m:t>
                            </m:r>
                          </m:e>
                        </m:d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2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</m:oMath>
                </a14:m>
                <a:endParaRPr lang="en-US" sz="1200" dirty="0"/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Observation</a:t>
                </a:r>
                <a:r>
                  <a:rPr lang="en-US" dirty="0"/>
                  <a:t>: The product structure of the probabilities seems crucial</a:t>
                </a:r>
              </a:p>
              <a:p>
                <a:r>
                  <a:rPr lang="en-US" b="1" dirty="0"/>
                  <a:t>Idea</a:t>
                </a:r>
                <a:r>
                  <a:rPr lang="en-US" dirty="0"/>
                  <a:t>: Define a graph where each of the variables are nodes and edges indicate </a:t>
                </a:r>
                <a:br>
                  <a:rPr lang="en-US" dirty="0"/>
                </a:br>
                <a:r>
                  <a:rPr lang="en-US" dirty="0"/>
                  <a:t>factor relationships between variables</a:t>
                </a:r>
              </a:p>
              <a:p>
                <a:r>
                  <a:rPr lang="en-US" b="1" dirty="0"/>
                  <a:t>Advantages</a:t>
                </a:r>
                <a:r>
                  <a:rPr lang="en-US" dirty="0"/>
                  <a:t>: Simple way to visualize factor structure of the joint probability</a:t>
                </a:r>
              </a:p>
              <a:p>
                <a:pPr lvl="1"/>
                <a:r>
                  <a:rPr lang="en-US" sz="1200" b="1" dirty="0"/>
                  <a:t>Graphical Models</a:t>
                </a:r>
                <a:r>
                  <a:rPr lang="en-US" sz="1200" dirty="0"/>
                  <a:t>: Conditional independence based on graph properties</a:t>
                </a:r>
              </a:p>
              <a:p>
                <a:pPr lvl="1"/>
                <a:r>
                  <a:rPr lang="en-US" sz="1200" b="1" dirty="0"/>
                  <a:t>Factor Graphs</a:t>
                </a:r>
                <a:r>
                  <a:rPr lang="en-US" sz="1200" dirty="0"/>
                  <a:t>: Efficient inference and approximation algorithms</a:t>
                </a:r>
              </a:p>
              <a:p>
                <a:endParaRPr lang="en-US" sz="1200" b="1" dirty="0"/>
              </a:p>
              <a:p>
                <a:pPr lvl="1"/>
                <a:endParaRPr lang="en-US" sz="1200" b="1" dirty="0"/>
              </a:p>
              <a:p>
                <a:pPr lvl="1"/>
                <a:endParaRPr lang="en-US" sz="1200" b="1" dirty="0"/>
              </a:p>
              <a:p>
                <a:pPr lvl="1"/>
                <a:endParaRPr lang="en-US" sz="1200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EC5A12F-2574-D43A-9BAF-5C50BFC4B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813624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D669470-0B34-F71C-7142-12C157D3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Models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B1B9D71-50FC-ECEB-E7CE-DAC930F225F9}"/>
              </a:ext>
            </a:extLst>
          </p:cNvPr>
          <p:cNvSpPr/>
          <p:nvPr/>
        </p:nvSpPr>
        <p:spPr bwMode="gray">
          <a:xfrm>
            <a:off x="3131840" y="1779662"/>
            <a:ext cx="936104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E5803F9-64D3-BDC5-CA3C-3455E8C7FE34}"/>
              </a:ext>
            </a:extLst>
          </p:cNvPr>
          <p:cNvSpPr/>
          <p:nvPr/>
        </p:nvSpPr>
        <p:spPr bwMode="gray">
          <a:xfrm>
            <a:off x="2170360" y="1779662"/>
            <a:ext cx="889471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3AB20A1-5C7A-C944-C150-A307E06B887C}"/>
              </a:ext>
            </a:extLst>
          </p:cNvPr>
          <p:cNvSpPr/>
          <p:nvPr/>
        </p:nvSpPr>
        <p:spPr bwMode="gray">
          <a:xfrm>
            <a:off x="2861452" y="2067694"/>
            <a:ext cx="846452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D7C60A4-9186-52C4-5556-C9BA1905F738}"/>
              </a:ext>
            </a:extLst>
          </p:cNvPr>
          <p:cNvSpPr/>
          <p:nvPr/>
        </p:nvSpPr>
        <p:spPr bwMode="gray">
          <a:xfrm>
            <a:off x="3809545" y="2064069"/>
            <a:ext cx="906470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9E0939-FE76-0F31-418B-ED14528002C0}"/>
              </a:ext>
            </a:extLst>
          </p:cNvPr>
          <p:cNvSpPr/>
          <p:nvPr/>
        </p:nvSpPr>
        <p:spPr bwMode="gray">
          <a:xfrm>
            <a:off x="4787268" y="2067694"/>
            <a:ext cx="1186903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0E6043D-34DF-85DE-D11F-51178F7E3008}"/>
              </a:ext>
            </a:extLst>
          </p:cNvPr>
          <p:cNvSpPr/>
          <p:nvPr/>
        </p:nvSpPr>
        <p:spPr bwMode="gray">
          <a:xfrm>
            <a:off x="6000130" y="2067694"/>
            <a:ext cx="588849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60ADC6-156A-0B15-2FDE-002D96BA126C}"/>
              </a:ext>
            </a:extLst>
          </p:cNvPr>
          <p:cNvCxnSpPr>
            <a:cxnSpLocks/>
            <a:stCxn id="14" idx="1"/>
          </p:cNvCxnSpPr>
          <p:nvPr/>
        </p:nvCxnSpPr>
        <p:spPr bwMode="gray">
          <a:xfrm flipH="1">
            <a:off x="4139952" y="1923678"/>
            <a:ext cx="2133058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4D5A1C4-C9A2-625A-775F-0C530C187CFA}"/>
              </a:ext>
            </a:extLst>
          </p:cNvPr>
          <p:cNvSpPr txBox="1"/>
          <p:nvPr/>
        </p:nvSpPr>
        <p:spPr bwMode="gray">
          <a:xfrm>
            <a:off x="6273010" y="1815666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skill belief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899D6D7-D417-84CC-FAC8-38EB55AEEFF9}"/>
              </a:ext>
            </a:extLst>
          </p:cNvPr>
          <p:cNvCxnSpPr>
            <a:cxnSpLocks/>
            <a:stCxn id="19" idx="1"/>
            <a:endCxn id="6" idx="2"/>
          </p:cNvCxnSpPr>
          <p:nvPr/>
        </p:nvCxnSpPr>
        <p:spPr bwMode="gray">
          <a:xfrm flipH="1" flipV="1">
            <a:off x="3284678" y="2355726"/>
            <a:ext cx="2727482" cy="54960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ADF7AE4-4B05-E855-567A-F5FA3ED05B07}"/>
              </a:ext>
            </a:extLst>
          </p:cNvPr>
          <p:cNvSpPr txBox="1"/>
          <p:nvPr/>
        </p:nvSpPr>
        <p:spPr bwMode="gray">
          <a:xfrm>
            <a:off x="6012160" y="2797315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Player performance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45CB56-D358-C45C-76A2-DCA43E6D4F4E}"/>
              </a:ext>
            </a:extLst>
          </p:cNvPr>
          <p:cNvSpPr txBox="1"/>
          <p:nvPr/>
        </p:nvSpPr>
        <p:spPr bwMode="gray">
          <a:xfrm>
            <a:off x="6038119" y="2559974"/>
            <a:ext cx="1625905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Match outcome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E26E04-6705-C1D8-AD82-5885706E4241}"/>
              </a:ext>
            </a:extLst>
          </p:cNvPr>
          <p:cNvCxnSpPr>
            <a:cxnSpLocks/>
            <a:stCxn id="30" idx="1"/>
            <a:endCxn id="8" idx="2"/>
          </p:cNvCxnSpPr>
          <p:nvPr/>
        </p:nvCxnSpPr>
        <p:spPr bwMode="gray">
          <a:xfrm flipH="1" flipV="1">
            <a:off x="5380720" y="2355726"/>
            <a:ext cx="657399" cy="3122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2A6A82-A22E-FA3F-2348-5494D605C885}"/>
              </a:ext>
            </a:extLst>
          </p:cNvPr>
          <p:cNvCxnSpPr>
            <a:cxnSpLocks/>
            <a:endCxn id="10" idx="3"/>
          </p:cNvCxnSpPr>
          <p:nvPr/>
        </p:nvCxnSpPr>
        <p:spPr bwMode="gray">
          <a:xfrm flipH="1">
            <a:off x="6588979" y="2211710"/>
            <a:ext cx="598431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134A210-5F61-9CB2-F1CB-7EB7F3A801C5}"/>
              </a:ext>
            </a:extLst>
          </p:cNvPr>
          <p:cNvSpPr txBox="1"/>
          <p:nvPr/>
        </p:nvSpPr>
        <p:spPr bwMode="gray">
          <a:xfrm>
            <a:off x="7308304" y="2103698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marginalization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5784882-8696-DF02-8C89-A044822FA86D}"/>
                  </a:ext>
                </a:extLst>
              </p:cNvPr>
              <p:cNvSpPr/>
              <p:nvPr/>
            </p:nvSpPr>
            <p:spPr bwMode="gray">
              <a:xfrm>
                <a:off x="7379899" y="314781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5784882-8696-DF02-8C89-A044822FA8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79899" y="3147814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AC92B5F-E5C8-21F8-CE15-817E83FF9196}"/>
                  </a:ext>
                </a:extLst>
              </p:cNvPr>
              <p:cNvSpPr/>
              <p:nvPr/>
            </p:nvSpPr>
            <p:spPr bwMode="gray">
              <a:xfrm>
                <a:off x="7956400" y="314781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AC92B5F-E5C8-21F8-CE15-817E83FF9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56400" y="3147814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36B703F-76FE-6600-7E72-07FCE434CC93}"/>
                  </a:ext>
                </a:extLst>
              </p:cNvPr>
              <p:cNvSpPr/>
              <p:nvPr/>
            </p:nvSpPr>
            <p:spPr bwMode="gray">
              <a:xfrm>
                <a:off x="7379899" y="36518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36B703F-76FE-6600-7E72-07FCE434CC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79899" y="3651870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3D9A616-53A8-A8D5-42F3-370BCBF852BC}"/>
                  </a:ext>
                </a:extLst>
              </p:cNvPr>
              <p:cNvSpPr/>
              <p:nvPr/>
            </p:nvSpPr>
            <p:spPr bwMode="gray">
              <a:xfrm>
                <a:off x="7956400" y="365187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3D9A616-53A8-A8D5-42F3-370BCBF852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56400" y="3651870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8F3E09C1-2579-AEA4-A8FF-D5B6C78E9DA3}"/>
                  </a:ext>
                </a:extLst>
              </p:cNvPr>
              <p:cNvSpPr/>
              <p:nvPr/>
            </p:nvSpPr>
            <p:spPr bwMode="gray">
              <a:xfrm>
                <a:off x="7668400" y="4083950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8F3E09C1-2579-AEA4-A8FF-D5B6C78E9D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68400" y="4083950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7DB427-91B5-3E40-B5BC-79C043F8A478}"/>
              </a:ext>
            </a:extLst>
          </p:cNvPr>
          <p:cNvCxnSpPr>
            <a:stCxn id="9" idx="4"/>
            <a:endCxn id="13" idx="0"/>
          </p:cNvCxnSpPr>
          <p:nvPr/>
        </p:nvCxnSpPr>
        <p:spPr bwMode="gray">
          <a:xfrm>
            <a:off x="7487899" y="3363814"/>
            <a:ext cx="0" cy="288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97EA4D-A64D-CBC9-A908-53F73A7A8C43}"/>
              </a:ext>
            </a:extLst>
          </p:cNvPr>
          <p:cNvCxnSpPr>
            <a:cxnSpLocks/>
            <a:stCxn id="11" idx="4"/>
            <a:endCxn id="15" idx="0"/>
          </p:cNvCxnSpPr>
          <p:nvPr/>
        </p:nvCxnSpPr>
        <p:spPr bwMode="gray">
          <a:xfrm>
            <a:off x="8064400" y="3363814"/>
            <a:ext cx="0" cy="2880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1589B43-E8E0-DE9F-1A42-DA3C79D27AEF}"/>
              </a:ext>
            </a:extLst>
          </p:cNvPr>
          <p:cNvCxnSpPr>
            <a:cxnSpLocks/>
            <a:stCxn id="15" idx="4"/>
            <a:endCxn id="16" idx="7"/>
          </p:cNvCxnSpPr>
          <p:nvPr/>
        </p:nvCxnSpPr>
        <p:spPr bwMode="gray">
          <a:xfrm flipH="1">
            <a:off x="7852768" y="3867870"/>
            <a:ext cx="211632" cy="247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6460DB3-63CD-2C3D-5C53-00A2B9A194DE}"/>
              </a:ext>
            </a:extLst>
          </p:cNvPr>
          <p:cNvCxnSpPr>
            <a:cxnSpLocks/>
            <a:stCxn id="13" idx="4"/>
            <a:endCxn id="16" idx="1"/>
          </p:cNvCxnSpPr>
          <p:nvPr/>
        </p:nvCxnSpPr>
        <p:spPr bwMode="gray">
          <a:xfrm>
            <a:off x="7487899" y="3867870"/>
            <a:ext cx="212133" cy="2477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4790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1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4" grpId="0"/>
      <p:bldP spid="19" grpId="0"/>
      <p:bldP spid="30" grpId="0"/>
      <p:bldP spid="36" grpId="0"/>
      <p:bldP spid="9" grpId="0" animBg="1"/>
      <p:bldP spid="11" grpId="0" animBg="1"/>
      <p:bldP spid="13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dirty="0"/>
              <a:t>Graphical Models</a:t>
            </a:r>
          </a:p>
          <a:p>
            <a:pPr marL="342900" indent="-342900"/>
            <a:r>
              <a:rPr lang="en-US" altLang="x-none" b="1" dirty="0"/>
              <a:t>Bayesian Networks</a:t>
            </a:r>
          </a:p>
          <a:p>
            <a:pPr marL="342900" indent="-342900"/>
            <a:r>
              <a:rPr lang="en-US" altLang="x-none" dirty="0"/>
              <a:t>Conditional Independence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57758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7450E-0B61-9E3E-F639-E57318E36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460C962C-1EEB-3FBD-67E4-D50A9D8B6DB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124780"/>
                <a:ext cx="7093544" cy="2250122"/>
              </a:xfrm>
            </p:spPr>
            <p:txBody>
              <a:bodyPr/>
              <a:lstStyle/>
              <a:p>
                <a:r>
                  <a:rPr lang="x-none" b="1" dirty="0"/>
                  <a:t>Observation</a:t>
                </a:r>
                <a:r>
                  <a:rPr lang="x-none" dirty="0"/>
                  <a:t>. Any joint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x-none" dirty="0"/>
                  <a:t> can be 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x-none" dirty="0"/>
              </a:p>
              <a:p>
                <a:r>
                  <a:rPr lang="x-none" b="1" dirty="0"/>
                  <a:t>Bayesian Network</a:t>
                </a:r>
                <a:r>
                  <a:rPr lang="x-none" dirty="0"/>
                  <a:t>. </a:t>
                </a:r>
                <a:r>
                  <a:rPr lang="x-none" i="1" dirty="0"/>
                  <a:t>Given a joint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parents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x-none" i="1" dirty="0"/>
              </a:p>
              <a:p>
                <a:pPr marL="268287" lvl="1" indent="0">
                  <a:buNone/>
                </a:pPr>
                <a:r>
                  <a:rPr lang="x-none" i="1" dirty="0"/>
                  <a:t>a </a:t>
                </a:r>
                <a:r>
                  <a:rPr lang="x-none" dirty="0"/>
                  <a:t>Bayesian network</a:t>
                </a:r>
                <a:r>
                  <a:rPr lang="x-none" i="1" dirty="0"/>
                  <a:t> is a graph with a node for every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x-none" i="1" dirty="0"/>
                  <a:t>, and a directed edge from every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parent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x-none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x-none" dirty="0"/>
                  <a:t>. </a:t>
                </a:r>
                <a:endParaRPr lang="x-none" b="1" dirty="0"/>
              </a:p>
              <a:p>
                <a:pPr lvl="1"/>
                <a:r>
                  <a:rPr lang="en-US" sz="1200" dirty="0"/>
                  <a:t>A Bayesian network must always be a </a:t>
                </a:r>
                <a:r>
                  <a:rPr lang="en-US" sz="1200" b="1" dirty="0"/>
                  <a:t>directed acyclic graph</a:t>
                </a:r>
                <a:r>
                  <a:rPr lang="en-US" sz="1200" dirty="0"/>
                  <a:t> because only those have a topological order corresponding to a variable order.</a:t>
                </a:r>
                <a:endParaRPr lang="x-none" sz="1200" dirty="0"/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460C962C-1EEB-3FBD-67E4-D50A9D8B6D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124780"/>
                <a:ext cx="7093544" cy="2250122"/>
              </a:xfrm>
              <a:blipFill>
                <a:blip r:embed="rId2"/>
                <a:stretch>
                  <a:fillRect t="-17978" r="-894" b="-28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769EFA65-0D0F-E109-2767-CCF1FFB02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Bayesian Networks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866A2D1D-2D75-17C8-7D1C-5B3208E11F62}"/>
                  </a:ext>
                </a:extLst>
              </p:cNvPr>
              <p:cNvSpPr/>
              <p:nvPr/>
            </p:nvSpPr>
            <p:spPr bwMode="gray">
              <a:xfrm>
                <a:off x="745019" y="4095463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de-DE" sz="1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866A2D1D-2D75-17C8-7D1C-5B3208E11F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5019" y="4095463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4AF0CDF7-796C-98B0-376E-290D980FAF92}"/>
                  </a:ext>
                </a:extLst>
              </p:cNvPr>
              <p:cNvSpPr/>
              <p:nvPr/>
            </p:nvSpPr>
            <p:spPr bwMode="gray">
              <a:xfrm>
                <a:off x="1321520" y="4095463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4AF0CDF7-796C-98B0-376E-290D980FAF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21520" y="4095463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4EF7562-D6D2-B010-DB52-F463E0D195D2}"/>
                  </a:ext>
                </a:extLst>
              </p:cNvPr>
              <p:cNvSpPr/>
              <p:nvPr/>
            </p:nvSpPr>
            <p:spPr bwMode="gray">
              <a:xfrm>
                <a:off x="1032558" y="456372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4EF7562-D6D2-B010-DB52-F463E0D195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32558" y="4563726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F8FADC-F00B-CE05-2BAA-4CB7F6146E3F}"/>
              </a:ext>
            </a:extLst>
          </p:cNvPr>
          <p:cNvCxnSpPr>
            <a:cxnSpLocks/>
            <a:stCxn id="2" idx="4"/>
            <a:endCxn id="10" idx="1"/>
          </p:cNvCxnSpPr>
          <p:nvPr/>
        </p:nvCxnSpPr>
        <p:spPr bwMode="gray">
          <a:xfrm>
            <a:off x="853019" y="4311463"/>
            <a:ext cx="211171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7EE351-2E21-8824-A21E-1C26317CF4CF}"/>
              </a:ext>
            </a:extLst>
          </p:cNvPr>
          <p:cNvCxnSpPr>
            <a:cxnSpLocks/>
            <a:stCxn id="2" idx="6"/>
            <a:endCxn id="3" idx="2"/>
          </p:cNvCxnSpPr>
          <p:nvPr/>
        </p:nvCxnSpPr>
        <p:spPr bwMode="gray">
          <a:xfrm>
            <a:off x="961019" y="4203463"/>
            <a:ext cx="360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DA5762-ED69-1CBB-9863-D1B4D5407BA1}"/>
              </a:ext>
            </a:extLst>
          </p:cNvPr>
          <p:cNvCxnSpPr>
            <a:cxnSpLocks/>
            <a:stCxn id="3" idx="4"/>
            <a:endCxn id="10" idx="7"/>
          </p:cNvCxnSpPr>
          <p:nvPr/>
        </p:nvCxnSpPr>
        <p:spPr bwMode="gray">
          <a:xfrm flipH="1">
            <a:off x="1216926" y="4311463"/>
            <a:ext cx="212594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9B6C752-CB22-9D8F-D32A-8D5A2D57B367}"/>
                  </a:ext>
                </a:extLst>
              </p:cNvPr>
              <p:cNvSpPr/>
              <p:nvPr/>
            </p:nvSpPr>
            <p:spPr bwMode="gray">
              <a:xfrm>
                <a:off x="2722579" y="408785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9B6C752-CB22-9D8F-D32A-8D5A2D57B3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22579" y="4087854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20FAAEF-A312-6AD6-E4A8-C025354CDBD5}"/>
                  </a:ext>
                </a:extLst>
              </p:cNvPr>
              <p:cNvSpPr/>
              <p:nvPr/>
            </p:nvSpPr>
            <p:spPr bwMode="gray">
              <a:xfrm>
                <a:off x="3299080" y="408785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20FAAEF-A312-6AD6-E4A8-C025354CDB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99080" y="4087854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B5C4A07-FFB6-BCA3-782F-06EF99757D49}"/>
                  </a:ext>
                </a:extLst>
              </p:cNvPr>
              <p:cNvSpPr/>
              <p:nvPr/>
            </p:nvSpPr>
            <p:spPr bwMode="gray">
              <a:xfrm>
                <a:off x="3010118" y="455611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3B5C4A07-FFB6-BCA3-782F-06EF99757D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10118" y="4556117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796D27-159A-17D7-9091-8C54BBFF303B}"/>
              </a:ext>
            </a:extLst>
          </p:cNvPr>
          <p:cNvCxnSpPr>
            <a:cxnSpLocks/>
            <a:stCxn id="15" idx="4"/>
            <a:endCxn id="18" idx="1"/>
          </p:cNvCxnSpPr>
          <p:nvPr/>
        </p:nvCxnSpPr>
        <p:spPr bwMode="gray">
          <a:xfrm>
            <a:off x="2830579" y="4303854"/>
            <a:ext cx="211171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818E7C3-DD81-C954-3319-65F459F360B3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 bwMode="gray">
          <a:xfrm>
            <a:off x="2938579" y="4195854"/>
            <a:ext cx="360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27F5F7D-5765-CCC9-11DA-B6E82A15417A}"/>
                  </a:ext>
                </a:extLst>
              </p:cNvPr>
              <p:cNvSpPr/>
              <p:nvPr/>
            </p:nvSpPr>
            <p:spPr bwMode="gray">
              <a:xfrm>
                <a:off x="4585007" y="408785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27F5F7D-5765-CCC9-11DA-B6E82A1541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85007" y="4087854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BBC84BE-C20A-C6A2-674F-124571232892}"/>
                  </a:ext>
                </a:extLst>
              </p:cNvPr>
              <p:cNvSpPr/>
              <p:nvPr/>
            </p:nvSpPr>
            <p:spPr bwMode="gray">
              <a:xfrm>
                <a:off x="5161508" y="408785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BBBC84BE-C20A-C6A2-674F-1245712328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61508" y="4087854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73B8D22-0E26-231D-C931-8C7AB001392A}"/>
                  </a:ext>
                </a:extLst>
              </p:cNvPr>
              <p:cNvSpPr/>
              <p:nvPr/>
            </p:nvSpPr>
            <p:spPr bwMode="gray">
              <a:xfrm>
                <a:off x="4872546" y="455611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73B8D22-0E26-231D-C931-8C7AB00139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872546" y="4556117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AEFF814-2E85-10F1-BB1B-B9E14954AA86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 bwMode="gray">
          <a:xfrm>
            <a:off x="4801007" y="4195854"/>
            <a:ext cx="360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4033670-DD29-15DB-B090-8EDEFDDB7801}"/>
              </a:ext>
            </a:extLst>
          </p:cNvPr>
          <p:cNvCxnSpPr>
            <a:cxnSpLocks/>
            <a:stCxn id="27" idx="4"/>
            <a:endCxn id="28" idx="7"/>
          </p:cNvCxnSpPr>
          <p:nvPr/>
        </p:nvCxnSpPr>
        <p:spPr bwMode="gray">
          <a:xfrm flipH="1">
            <a:off x="5056914" y="4303854"/>
            <a:ext cx="212594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2FF0D5-82C9-CBF7-0F01-E64694B84906}"/>
                  </a:ext>
                </a:extLst>
              </p:cNvPr>
              <p:cNvSpPr txBox="1"/>
              <p:nvPr/>
            </p:nvSpPr>
            <p:spPr bwMode="gray">
              <a:xfrm>
                <a:off x="35496" y="4810532"/>
                <a:ext cx="2160240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x-none" sz="8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2FF0D5-82C9-CBF7-0F01-E64694B84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496" y="4810532"/>
                <a:ext cx="2160240" cy="215444"/>
              </a:xfrm>
              <a:prstGeom prst="rect">
                <a:avLst/>
              </a:prstGeom>
              <a:blipFill>
                <a:blip r:embed="rId1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2B55EB8-7582-43FD-0552-EB897BFCFB48}"/>
                  </a:ext>
                </a:extLst>
              </p:cNvPr>
              <p:cNvSpPr txBox="1"/>
              <p:nvPr/>
            </p:nvSpPr>
            <p:spPr bwMode="gray">
              <a:xfrm>
                <a:off x="2195736" y="4731990"/>
                <a:ext cx="1845103" cy="438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∏"/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sz="80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2B55EB8-7582-43FD-0552-EB897BFCF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36" y="4731990"/>
                <a:ext cx="1845103" cy="438582"/>
              </a:xfrm>
              <a:prstGeom prst="rect">
                <a:avLst/>
              </a:prstGeom>
              <a:blipFill>
                <a:blip r:embed="rId13"/>
                <a:stretch>
                  <a:fillRect t="-72222" b="-1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831BE53-DEBB-519E-790D-A72935E08C43}"/>
                  </a:ext>
                </a:extLst>
              </p:cNvPr>
              <p:cNvSpPr txBox="1"/>
              <p:nvPr/>
            </p:nvSpPr>
            <p:spPr bwMode="gray">
              <a:xfrm>
                <a:off x="4067944" y="4738524"/>
                <a:ext cx="1845103" cy="438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∏"/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831BE53-DEBB-519E-790D-A72935E08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67944" y="4738524"/>
                <a:ext cx="1845103" cy="438582"/>
              </a:xfrm>
              <a:prstGeom prst="rect">
                <a:avLst/>
              </a:prstGeom>
              <a:blipFill>
                <a:blip r:embed="rId14"/>
                <a:stretch>
                  <a:fillRect t="-72222" b="-1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D71B32-2B06-F044-FEAD-DC45D3315179}"/>
                  </a:ext>
                </a:extLst>
              </p:cNvPr>
              <p:cNvSpPr txBox="1"/>
              <p:nvPr/>
            </p:nvSpPr>
            <p:spPr bwMode="gray">
              <a:xfrm>
                <a:off x="5796136" y="4738524"/>
                <a:ext cx="1845103" cy="449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∏"/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D71B32-2B06-F044-FEAD-DC45D3315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96136" y="4738524"/>
                <a:ext cx="1845103" cy="449482"/>
              </a:xfrm>
              <a:prstGeom prst="rect">
                <a:avLst/>
              </a:prstGeom>
              <a:blipFill>
                <a:blip r:embed="rId15"/>
                <a:stretch>
                  <a:fillRect t="-70270" b="-1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E8675F57-6290-5593-D182-74F1DBA912FB}"/>
                  </a:ext>
                </a:extLst>
              </p:cNvPr>
              <p:cNvSpPr/>
              <p:nvPr/>
            </p:nvSpPr>
            <p:spPr bwMode="gray">
              <a:xfrm>
                <a:off x="6444974" y="409642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E8675F57-6290-5593-D182-74F1DBA912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44974" y="4096424"/>
                <a:ext cx="216000" cy="216000"/>
              </a:xfrm>
              <a:prstGeom prst="ellipse">
                <a:avLst/>
              </a:prstGeom>
              <a:blipFill>
                <a:blip r:embed="rId16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8B9E8DFB-4A25-2166-26E0-D3DEB4038F05}"/>
                  </a:ext>
                </a:extLst>
              </p:cNvPr>
              <p:cNvSpPr/>
              <p:nvPr/>
            </p:nvSpPr>
            <p:spPr bwMode="gray">
              <a:xfrm>
                <a:off x="7021475" y="409642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8B9E8DFB-4A25-2166-26E0-D3DEB4038F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21475" y="4096424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B9C58BE6-0222-289D-7EBD-03D53E4A2032}"/>
                  </a:ext>
                </a:extLst>
              </p:cNvPr>
              <p:cNvSpPr/>
              <p:nvPr/>
            </p:nvSpPr>
            <p:spPr bwMode="gray">
              <a:xfrm>
                <a:off x="6732513" y="456468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B9C58BE6-0222-289D-7EBD-03D53E4A20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32513" y="4564687"/>
                <a:ext cx="216000" cy="216000"/>
              </a:xfrm>
              <a:prstGeom prst="ellipse">
                <a:avLst/>
              </a:prstGeom>
              <a:blipFill>
                <a:blip r:embed="rId18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BF33730-9234-E610-94AC-B332C17F3895}"/>
              </a:ext>
            </a:extLst>
          </p:cNvPr>
          <p:cNvCxnSpPr>
            <a:cxnSpLocks/>
            <a:stCxn id="43" idx="4"/>
            <a:endCxn id="45" idx="1"/>
          </p:cNvCxnSpPr>
          <p:nvPr/>
        </p:nvCxnSpPr>
        <p:spPr bwMode="gray">
          <a:xfrm>
            <a:off x="6552974" y="4312424"/>
            <a:ext cx="211171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8ECB5B0-655D-D757-B4C5-EAB7B745EEED}"/>
              </a:ext>
            </a:extLst>
          </p:cNvPr>
          <p:cNvCxnSpPr>
            <a:cxnSpLocks/>
            <a:stCxn id="44" idx="4"/>
            <a:endCxn id="45" idx="7"/>
          </p:cNvCxnSpPr>
          <p:nvPr/>
        </p:nvCxnSpPr>
        <p:spPr bwMode="gray">
          <a:xfrm flipH="1">
            <a:off x="6916881" y="4312424"/>
            <a:ext cx="212594" cy="283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0E8644B-9284-6DD6-E0EE-8D5CC39D4113}"/>
              </a:ext>
            </a:extLst>
          </p:cNvPr>
          <p:cNvSpPr txBox="1"/>
          <p:nvPr/>
        </p:nvSpPr>
        <p:spPr bwMode="gray">
          <a:xfrm>
            <a:off x="683358" y="3895622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full mesh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336B1E-F008-5783-AE38-315EDD9CBD6E}"/>
              </a:ext>
            </a:extLst>
          </p:cNvPr>
          <p:cNvSpPr txBox="1"/>
          <p:nvPr/>
        </p:nvSpPr>
        <p:spPr bwMode="gray">
          <a:xfrm>
            <a:off x="2665224" y="3890376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star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D507EE-6B41-9AFF-39C1-2D615F28C549}"/>
              </a:ext>
            </a:extLst>
          </p:cNvPr>
          <p:cNvSpPr txBox="1"/>
          <p:nvPr/>
        </p:nvSpPr>
        <p:spPr bwMode="gray">
          <a:xfrm>
            <a:off x="4523346" y="3886361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chain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C7B9FB-5FF0-B449-EFE6-3EA56FA122C0}"/>
              </a:ext>
            </a:extLst>
          </p:cNvPr>
          <p:cNvSpPr txBox="1"/>
          <p:nvPr/>
        </p:nvSpPr>
        <p:spPr bwMode="gray">
          <a:xfrm>
            <a:off x="6369505" y="3901313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sink</a:t>
            </a:r>
            <a:endParaRPr lang="x-none" sz="10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8405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0" grpId="0" animBg="1"/>
      <p:bldP spid="15" grpId="0" animBg="1"/>
      <p:bldP spid="17" grpId="0" animBg="1"/>
      <p:bldP spid="18" grpId="0" animBg="1"/>
      <p:bldP spid="26" grpId="0" animBg="1"/>
      <p:bldP spid="27" grpId="0" animBg="1"/>
      <p:bldP spid="28" grpId="0" animBg="1"/>
      <p:bldP spid="34" grpId="0"/>
      <p:bldP spid="37" grpId="0"/>
      <p:bldP spid="40" grpId="0"/>
      <p:bldP spid="42" grpId="0"/>
      <p:bldP spid="43" grpId="0" animBg="1"/>
      <p:bldP spid="44" grpId="0" animBg="1"/>
      <p:bldP spid="45" grpId="0" animBg="1"/>
      <p:bldP spid="49" grpId="0"/>
      <p:bldP spid="50" grpId="0"/>
      <p:bldP spid="51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582D2E86-4CEE-FCC6-0032-8245341DEF37}"/>
                  </a:ext>
                </a:extLst>
              </p:cNvPr>
              <p:cNvSpPr/>
              <p:nvPr/>
            </p:nvSpPr>
            <p:spPr bwMode="gray">
              <a:xfrm>
                <a:off x="7821767" y="1919347"/>
                <a:ext cx="481096" cy="661521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none" sz="7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=2,…,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x-none" sz="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582D2E86-4CEE-FCC6-0032-8245341DEF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21767" y="1919347"/>
                <a:ext cx="481096" cy="66152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95B336-616A-9B6A-3457-6BC8E2B5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2097101"/>
          </a:xfrm>
        </p:spPr>
        <p:txBody>
          <a:bodyPr/>
          <a:lstStyle/>
          <a:p>
            <a:r>
              <a:rPr lang="en-US" b="1" dirty="0"/>
              <a:t>Plate</a:t>
            </a:r>
            <a:r>
              <a:rPr lang="en-US" dirty="0"/>
              <a:t>. If a subset of variables has the same relation only differing in their index, we use a ”plate” to collapse them into a single graphical element.</a:t>
            </a:r>
          </a:p>
          <a:p>
            <a:pPr lvl="1"/>
            <a:r>
              <a:rPr lang="en-US" sz="1200" dirty="0"/>
              <a:t>Increase readability of models for large amounts of parameters and data</a:t>
            </a:r>
          </a:p>
          <a:p>
            <a:endParaRPr lang="en-US" b="1" dirty="0"/>
          </a:p>
          <a:p>
            <a:r>
              <a:rPr lang="en-US" b="1" dirty="0"/>
              <a:t>Observed Variables</a:t>
            </a:r>
            <a:r>
              <a:rPr lang="en-US" dirty="0"/>
              <a:t>. If a subset of variables has been observed (“data”), the variable nodes are usually shaded (“clamped”).</a:t>
            </a:r>
            <a:endParaRPr lang="en-US" b="1" dirty="0"/>
          </a:p>
          <a:p>
            <a:pPr lvl="1"/>
            <a:r>
              <a:rPr lang="en-US" sz="1200" b="1" dirty="0"/>
              <a:t>Example</a:t>
            </a:r>
            <a:r>
              <a:rPr lang="en-US" sz="1200" dirty="0"/>
              <a:t>: Discriminatory Models</a:t>
            </a:r>
            <a:endParaRPr lang="en-US" sz="12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006F2A-2EE2-D0A5-BD8B-73552D71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Network (Notation)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2E14595-3F35-ED79-133F-5616F6D94A7E}"/>
                  </a:ext>
                </a:extLst>
              </p:cNvPr>
              <p:cNvSpPr/>
              <p:nvPr/>
            </p:nvSpPr>
            <p:spPr bwMode="gray">
              <a:xfrm>
                <a:off x="7939854" y="153676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2E14595-3F35-ED79-133F-5616F6D94A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39854" y="1536764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A92E454-1628-9A86-BEF9-2660F14E3295}"/>
                  </a:ext>
                </a:extLst>
              </p:cNvPr>
              <p:cNvSpPr/>
              <p:nvPr/>
            </p:nvSpPr>
            <p:spPr bwMode="gray">
              <a:xfrm>
                <a:off x="7947672" y="208593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A92E454-1628-9A86-BEF9-2660F14E3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47672" y="2085930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FBC0C4E-C50A-2A37-E702-1C59A677197F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 bwMode="gray">
          <a:xfrm>
            <a:off x="8047854" y="1752764"/>
            <a:ext cx="7818" cy="333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5C92A2-A070-8722-85AF-A7C685802B36}"/>
                  </a:ext>
                </a:extLst>
              </p:cNvPr>
              <p:cNvSpPr txBox="1"/>
              <p:nvPr/>
            </p:nvSpPr>
            <p:spPr bwMode="gray">
              <a:xfrm>
                <a:off x="7164288" y="1131590"/>
                <a:ext cx="1845103" cy="428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∏"/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5C92A2-A070-8722-85AF-A7C685802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64288" y="1131590"/>
                <a:ext cx="1845103" cy="428515"/>
              </a:xfrm>
              <a:prstGeom prst="rect">
                <a:avLst/>
              </a:prstGeom>
              <a:blipFill>
                <a:blip r:embed="rId5"/>
                <a:stretch>
                  <a:fillRect t="-82353" b="-132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6566E93F-40F7-6FB5-0E74-11B63BFA89AC}"/>
                  </a:ext>
                </a:extLst>
              </p:cNvPr>
              <p:cNvSpPr/>
              <p:nvPr/>
            </p:nvSpPr>
            <p:spPr bwMode="gray">
              <a:xfrm>
                <a:off x="2978132" y="3818430"/>
                <a:ext cx="841136" cy="625282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x-none" sz="7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=1,…,</m:t>
                      </m:r>
                      <m:r>
                        <a:rPr lang="en-US" sz="7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x-none" sz="5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6566E93F-40F7-6FB5-0E74-11B63BFA8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78132" y="3818430"/>
                <a:ext cx="841136" cy="62528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AEBA7A9-CE7D-EB38-35E6-01C5E86A6B98}"/>
                  </a:ext>
                </a:extLst>
              </p:cNvPr>
              <p:cNvSpPr/>
              <p:nvPr/>
            </p:nvSpPr>
            <p:spPr bwMode="gray">
              <a:xfrm>
                <a:off x="3456259" y="343584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x-none" sz="1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AEBA7A9-CE7D-EB38-35E6-01C5E86A6B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56259" y="3435846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2BC4F6F-CD57-8037-7133-F6D069EEE3AD}"/>
                  </a:ext>
                </a:extLst>
              </p:cNvPr>
              <p:cNvSpPr/>
              <p:nvPr/>
            </p:nvSpPr>
            <p:spPr bwMode="gray">
              <a:xfrm>
                <a:off x="3464077" y="3985012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2BC4F6F-CD57-8037-7133-F6D069EEE3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64077" y="3985012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46BC3D-20F9-89B1-2B5C-7300195448BB}"/>
              </a:ext>
            </a:extLst>
          </p:cNvPr>
          <p:cNvCxnSpPr>
            <a:cxnSpLocks/>
            <a:stCxn id="17" idx="4"/>
            <a:endCxn id="18" idx="0"/>
          </p:cNvCxnSpPr>
          <p:nvPr/>
        </p:nvCxnSpPr>
        <p:spPr bwMode="gray">
          <a:xfrm>
            <a:off x="3564259" y="3651846"/>
            <a:ext cx="7818" cy="333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6825D6B-1CE8-D96D-91B8-55D564F58BE8}"/>
                  </a:ext>
                </a:extLst>
              </p:cNvPr>
              <p:cNvSpPr/>
              <p:nvPr/>
            </p:nvSpPr>
            <p:spPr bwMode="gray">
              <a:xfrm>
                <a:off x="3063014" y="3985012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x-none" sz="10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6825D6B-1CE8-D96D-91B8-55D564F58B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63014" y="3985012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67C5D86-5927-D595-0179-DD38176E1395}"/>
              </a:ext>
            </a:extLst>
          </p:cNvPr>
          <p:cNvCxnSpPr>
            <a:cxnSpLocks/>
            <a:stCxn id="20" idx="6"/>
            <a:endCxn id="18" idx="2"/>
          </p:cNvCxnSpPr>
          <p:nvPr/>
        </p:nvCxnSpPr>
        <p:spPr bwMode="gray">
          <a:xfrm>
            <a:off x="3279014" y="4093012"/>
            <a:ext cx="1850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646CA0-A2E1-9320-E4DC-DB01D6B98AFE}"/>
                  </a:ext>
                </a:extLst>
              </p:cNvPr>
              <p:cNvSpPr txBox="1"/>
              <p:nvPr/>
            </p:nvSpPr>
            <p:spPr bwMode="gray">
              <a:xfrm>
                <a:off x="2239916" y="3003798"/>
                <a:ext cx="3556219" cy="512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0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nary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646CA0-A2E1-9320-E4DC-DB01D6B98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39916" y="3003798"/>
                <a:ext cx="3556219" cy="512448"/>
              </a:xfrm>
              <a:prstGeom prst="rect">
                <a:avLst/>
              </a:prstGeom>
              <a:blipFill>
                <a:blip r:embed="rId10"/>
                <a:stretch>
                  <a:fillRect t="-87805" b="-141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45233A-CC76-B90E-D12F-A820FA02AFBC}"/>
                  </a:ext>
                </a:extLst>
              </p:cNvPr>
              <p:cNvSpPr txBox="1"/>
              <p:nvPr/>
            </p:nvSpPr>
            <p:spPr bwMode="gray">
              <a:xfrm>
                <a:off x="2248136" y="4443958"/>
                <a:ext cx="2880320" cy="512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nary>
                        <m:naryPr>
                          <m:chr m:val="∏"/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nary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45233A-CC76-B90E-D12F-A820FA02A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48136" y="4443958"/>
                <a:ext cx="2880320" cy="512448"/>
              </a:xfrm>
              <a:prstGeom prst="rect">
                <a:avLst/>
              </a:prstGeom>
              <a:blipFill>
                <a:blip r:embed="rId11"/>
                <a:stretch>
                  <a:fillRect t="-83333" b="-1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11230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1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" grpId="0" animBg="1"/>
      <p:bldP spid="6" grpId="0" animBg="1"/>
      <p:bldP spid="9" grpId="0"/>
      <p:bldP spid="16" grpId="0" animBg="1"/>
      <p:bldP spid="17" grpId="0" animBg="1"/>
      <p:bldP spid="18" grpId="0" animBg="1"/>
      <p:bldP spid="20" grpId="0" animBg="1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DEC12E9-A67D-CFC5-E485-2538AA008D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1421881"/>
                  </p:ext>
                </p:extLst>
              </p:nvPr>
            </p:nvGraphicFramePr>
            <p:xfrm>
              <a:off x="4339929" y="2244085"/>
              <a:ext cx="1025548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BDEC12E9-A67D-CFC5-E485-2538AA008D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1421881"/>
                  </p:ext>
                </p:extLst>
              </p:nvPr>
            </p:nvGraphicFramePr>
            <p:xfrm>
              <a:off x="4339929" y="2244085"/>
              <a:ext cx="1025548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5882" r="-394118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12500" r="-31875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69388" r="-4082" b="-1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5882" t="-105556" r="-394118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12500" t="-105556" r="-31875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69388" t="-105556" r="-4082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49B752AD-9CD8-9504-AD63-F0F3E3C4A1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852077"/>
                  </p:ext>
                </p:extLst>
              </p:nvPr>
            </p:nvGraphicFramePr>
            <p:xfrm>
              <a:off x="4339929" y="2244085"/>
              <a:ext cx="1025548" cy="685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9" name="Table 28">
                <a:extLst>
                  <a:ext uri="{FF2B5EF4-FFF2-40B4-BE49-F238E27FC236}">
                    <a16:creationId xmlns:a16="http://schemas.microsoft.com/office/drawing/2014/main" id="{49B752AD-9CD8-9504-AD63-F0F3E3C4A1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852077"/>
                  </p:ext>
                </p:extLst>
              </p:nvPr>
            </p:nvGraphicFramePr>
            <p:xfrm>
              <a:off x="4339929" y="2244085"/>
              <a:ext cx="1025548" cy="685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5882" r="-394118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112500" r="-31875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69388" r="-4082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5882" t="-94737" r="-39411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112500" t="-94737" r="-31875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69388" t="-94737" r="-4082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5882" t="-205556" r="-394118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112500" t="-205556" r="-318750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4"/>
                          <a:stretch>
                            <a:fillRect l="-69388" t="-205556" r="-4082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512CE61D-4A61-1862-4A38-F17FB17AFA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0084837"/>
                  </p:ext>
                </p:extLst>
              </p:nvPr>
            </p:nvGraphicFramePr>
            <p:xfrm>
              <a:off x="4339929" y="2244085"/>
              <a:ext cx="1025548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512CE61D-4A61-1862-4A38-F17FB17AFA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0084837"/>
                  </p:ext>
                </p:extLst>
              </p:nvPr>
            </p:nvGraphicFramePr>
            <p:xfrm>
              <a:off x="4339929" y="2244085"/>
              <a:ext cx="1025548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5882" r="-394118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112500" r="-318750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69388" r="-4082" b="-4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5882" t="-100000" r="-394118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112500" t="-100000" r="-31875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69388" t="-100000" r="-4082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5882" t="-189474" r="-394118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112500" t="-189474" r="-318750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69388" t="-189474" r="-4082" b="-19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3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1220" t="-305556" r="-2439" b="-10555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5882" t="-405556" r="-394118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112500" t="-405556" r="-318750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5"/>
                          <a:stretch>
                            <a:fillRect l="-69388" t="-405556" r="-4082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8D8AC894-328F-B949-E900-3788A2238A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326873"/>
                  </p:ext>
                </p:extLst>
              </p:nvPr>
            </p:nvGraphicFramePr>
            <p:xfrm>
              <a:off x="4339929" y="2244085"/>
              <a:ext cx="1025548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8D8AC894-328F-B949-E900-3788A2238A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326873"/>
                  </p:ext>
                </p:extLst>
              </p:nvPr>
            </p:nvGraphicFramePr>
            <p:xfrm>
              <a:off x="4339929" y="2244085"/>
              <a:ext cx="1025548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82" r="-39411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112500" r="-31875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69388" r="-4082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82" t="-100000" r="-394118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112500" t="-100000" r="-318750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69388" t="-100000" r="-4082" b="-4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82" t="-189474" r="-394118" b="-2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112500" t="-189474" r="-318750" b="-2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69388" t="-189474" r="-4082" b="-29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3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1220" t="-305556" r="-2439" b="-2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82" t="-405556" r="-394118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112500" t="-405556" r="-318750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69388" t="-405556" r="-4082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82" t="-505556" r="-394118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112500" t="-505556" r="-31875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69388" t="-505556" r="-4082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F134A76E-46F9-CD46-22D5-5EAD499EAF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4037714"/>
                  </p:ext>
                </p:extLst>
              </p:nvPr>
            </p:nvGraphicFramePr>
            <p:xfrm>
              <a:off x="4339929" y="2244085"/>
              <a:ext cx="1025548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159680">
                    <a:tc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F134A76E-46F9-CD46-22D5-5EAD499EAF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4037714"/>
                  </p:ext>
                </p:extLst>
              </p:nvPr>
            </p:nvGraphicFramePr>
            <p:xfrm>
              <a:off x="4339929" y="2244085"/>
              <a:ext cx="1025548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60898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5882" r="-394118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12500" r="-318750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69388" r="-4082" b="-7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5882" t="-100000" r="-394118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12500" t="-100000" r="-318750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69388" t="-100000" r="-4082" b="-6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5882" t="-200000" r="-394118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12500" t="-200000" r="-31875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69388" t="-200000" r="-4082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3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220" t="-284211" r="-2439" b="-3894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5882" t="-405556" r="-394118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12500" t="-405556" r="-31875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69388" t="-405556" r="-4082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5882" t="-505556" r="-394118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12500" t="-505556" r="-31875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69388" t="-505556" r="-4082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228600">
                    <a:tc gridSpan="3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220" t="-605556" r="-2439" b="-1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5882" t="-705556" r="-394118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12500" t="-705556" r="-31875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69388" t="-705556" r="-4082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892FD62E-9A08-4F8C-1B36-05F0D2C6E1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8536061"/>
                  </p:ext>
                </p:extLst>
              </p:nvPr>
            </p:nvGraphicFramePr>
            <p:xfrm>
              <a:off x="3491880" y="2244085"/>
              <a:ext cx="693034" cy="685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484754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892FD62E-9A08-4F8C-1B36-05F0D2C6E1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8536061"/>
                  </p:ext>
                </p:extLst>
              </p:nvPr>
            </p:nvGraphicFramePr>
            <p:xfrm>
              <a:off x="3491880" y="2244085"/>
              <a:ext cx="693034" cy="685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484754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r="-241176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43590" r="-5128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t="-94737" r="-24117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43590" t="-94737" r="-512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t="-205556" r="-241176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43590" t="-205556" r="-5128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7CD8A35D-630B-A2B2-CBD7-8E1360F6A7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124585"/>
                  </p:ext>
                </p:extLst>
              </p:nvPr>
            </p:nvGraphicFramePr>
            <p:xfrm>
              <a:off x="3491880" y="2244085"/>
              <a:ext cx="693034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484754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7CD8A35D-630B-A2B2-CBD7-8E1360F6A7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124585"/>
                  </p:ext>
                </p:extLst>
              </p:nvPr>
            </p:nvGraphicFramePr>
            <p:xfrm>
              <a:off x="3491880" y="2244085"/>
              <a:ext cx="693034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484754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r="-241176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43590" r="-5128" b="-4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t="-100000" r="-241176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43590" t="-100000" r="-5128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t="-189474" r="-241176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43590" t="-189474" r="-5128" b="-19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2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t="-305556" r="-3571" b="-10555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t="-405556" r="-241176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43590" t="-405556" r="-5128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F5CEBE3-D6B5-1DBF-14F4-8FF11C626E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0053572"/>
                  </p:ext>
                </p:extLst>
              </p:nvPr>
            </p:nvGraphicFramePr>
            <p:xfrm>
              <a:off x="353989" y="2244085"/>
              <a:ext cx="1939713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F5CEBE3-D6B5-1DBF-14F4-8FF11C626E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0053572"/>
                  </p:ext>
                </p:extLst>
              </p:nvPr>
            </p:nvGraphicFramePr>
            <p:xfrm>
              <a:off x="353989" y="2244085"/>
              <a:ext cx="1939713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r="-721053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111765" r="-705882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163636" r="-445455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362500" r="-51250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92500" r="-2500" b="-1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t="-105556" r="-7210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111765" t="-105556" r="-705882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163636" t="-105556" r="-445455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362500" t="-105556" r="-51250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92500" t="-105556" r="-2500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F97712F1-F2D9-1ABE-38FE-2FB5F8657D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6347375"/>
                  </p:ext>
                </p:extLst>
              </p:nvPr>
            </p:nvGraphicFramePr>
            <p:xfrm>
              <a:off x="353989" y="2244085"/>
              <a:ext cx="1939713" cy="685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F97712F1-F2D9-1ABE-38FE-2FB5F8657D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6347375"/>
                  </p:ext>
                </p:extLst>
              </p:nvPr>
            </p:nvGraphicFramePr>
            <p:xfrm>
              <a:off x="353989" y="2244085"/>
              <a:ext cx="1939713" cy="685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r="-721053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11765" r="-705882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63636" r="-445455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62500" r="-51250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92500" r="-2500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t="-94737" r="-72105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11765" t="-94737" r="-70588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63636" t="-94737" r="-44545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62500" t="-94737" r="-5125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92500" t="-94737" r="-25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t="-205556" r="-721053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11765" t="-205556" r="-705882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63636" t="-205556" r="-445455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62500" t="-205556" r="-512500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92500" t="-205556" r="-2500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477C6435-2D9B-0CD5-2912-8E500BD94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7764694"/>
                  </p:ext>
                </p:extLst>
              </p:nvPr>
            </p:nvGraphicFramePr>
            <p:xfrm>
              <a:off x="353989" y="2244085"/>
              <a:ext cx="1939713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e 23">
                <a:extLst>
                  <a:ext uri="{FF2B5EF4-FFF2-40B4-BE49-F238E27FC236}">
                    <a16:creationId xmlns:a16="http://schemas.microsoft.com/office/drawing/2014/main" id="{477C6435-2D9B-0CD5-2912-8E500BD944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7764694"/>
                  </p:ext>
                </p:extLst>
              </p:nvPr>
            </p:nvGraphicFramePr>
            <p:xfrm>
              <a:off x="353989" y="2244085"/>
              <a:ext cx="1939713" cy="1143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r="-721053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11765" r="-705882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63636" r="-445455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362500" r="-512500" b="-4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92500" r="-2500" b="-4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t="-100000" r="-721053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11765" t="-100000" r="-705882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63636" t="-100000" r="-445455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362500" t="-100000" r="-51250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92500" t="-100000" r="-2500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t="-189474" r="-721053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11765" t="-189474" r="-705882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63636" t="-189474" r="-445455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362500" t="-189474" r="-512500" b="-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92500" t="-189474" r="-2500" b="-19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5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t="-305556" r="-1299" b="-10555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t="-405556" r="-721053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11765" t="-405556" r="-705882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163636" t="-405556" r="-445455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362500" t="-405556" r="-512500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2"/>
                          <a:stretch>
                            <a:fillRect l="-92500" t="-405556" r="-2500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9366B551-04A9-B397-7A3A-981ECD0FD9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9886209"/>
                  </p:ext>
                </p:extLst>
              </p:nvPr>
            </p:nvGraphicFramePr>
            <p:xfrm>
              <a:off x="353989" y="2244085"/>
              <a:ext cx="1939713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9366B551-04A9-B397-7A3A-981ECD0FD9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9886209"/>
                  </p:ext>
                </p:extLst>
              </p:nvPr>
            </p:nvGraphicFramePr>
            <p:xfrm>
              <a:off x="353989" y="2244085"/>
              <a:ext cx="1939713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r="-721053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11765" r="-705882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63636" r="-445455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362500" r="-51250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92500" r="-2500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t="-100000" r="-721053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11765" t="-100000" r="-705882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63636" t="-100000" r="-445455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362500" t="-100000" r="-512500" b="-4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92500" t="-100000" r="-2500" b="-4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t="-189474" r="-721053" b="-2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11765" t="-189474" r="-705882" b="-2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63636" t="-189474" r="-445455" b="-2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362500" t="-189474" r="-512500" b="-2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92500" t="-189474" r="-2500" b="-29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5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t="-305556" r="-1299" b="-2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t="-405556" r="-721053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11765" t="-405556" r="-705882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63636" t="-405556" r="-445455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362500" t="-405556" r="-512500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92500" t="-405556" r="-2500" b="-1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t="-505556" r="-7210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11765" t="-505556" r="-705882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163636" t="-505556" r="-445455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362500" t="-505556" r="-51250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3"/>
                          <a:stretch>
                            <a:fillRect l="-92500" t="-505556" r="-2500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7B10FCB7-9C22-91C8-AC8E-F1FC9F4A59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5188196"/>
                  </p:ext>
                </p:extLst>
              </p:nvPr>
            </p:nvGraphicFramePr>
            <p:xfrm>
              <a:off x="353989" y="2244085"/>
              <a:ext cx="1939713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159680">
                    <a:tc grid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7B10FCB7-9C22-91C8-AC8E-F1FC9F4A59A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5188196"/>
                  </p:ext>
                </p:extLst>
              </p:nvPr>
            </p:nvGraphicFramePr>
            <p:xfrm>
              <a:off x="353989" y="2244085"/>
              <a:ext cx="1939713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r="-721053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11765" r="-705882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63636" r="-445455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362500" r="-512500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92500" r="-2500" b="-7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100000" r="-721053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11765" t="-100000" r="-705882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63636" t="-100000" r="-445455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362500" t="-100000" r="-512500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92500" t="-100000" r="-2500" b="-6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200000" r="-721053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11765" t="-200000" r="-705882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63636" t="-200000" r="-445455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362500" t="-200000" r="-51250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92500" t="-200000" r="-2500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5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284211" r="-1299" b="-3894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405556" r="-721053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11765" t="-405556" r="-705882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63636" t="-405556" r="-445455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362500" t="-405556" r="-51250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92500" t="-405556" r="-2500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505556" r="-721053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11765" t="-505556" r="-705882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63636" t="-505556" r="-445455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362500" t="-505556" r="-51250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92500" t="-505556" r="-2500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228600">
                    <a:tc gridSpan="5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605556" r="-1299" b="-1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t="-705556" r="-7210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11765" t="-705556" r="-705882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163636" t="-705556" r="-445455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362500" t="-705556" r="-51250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4"/>
                          <a:stretch>
                            <a:fillRect l="-92500" t="-705556" r="-2500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F2FADEC-8420-DF64-A3A6-857171D2F7B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07777"/>
              </a:xfrm>
            </p:spPr>
            <p:txBody>
              <a:bodyPr/>
              <a:lstStyle/>
              <a:p>
                <a:r>
                  <a:rPr lang="x-none" dirty="0"/>
                  <a:t>For simplicity, let us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1,…,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endParaRPr lang="x-non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F2FADEC-8420-DF64-A3A6-857171D2F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307777"/>
              </a:xfrm>
              <a:blipFill>
                <a:blip r:embed="rId15"/>
                <a:stretch>
                  <a:fillRect t="-4000" b="-24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E3C42DD-FDA6-6BFD-2659-E20337375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Representation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B891A7-6787-A189-65A8-A7EE637BDC52}"/>
                  </a:ext>
                </a:extLst>
              </p:cNvPr>
              <p:cNvSpPr txBox="1"/>
              <p:nvPr/>
            </p:nvSpPr>
            <p:spPr bwMode="gray">
              <a:xfrm>
                <a:off x="683568" y="1812037"/>
                <a:ext cx="180432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x-none" sz="1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CB891A7-6787-A189-65A8-A7EE637BD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3568" y="1812037"/>
                <a:ext cx="1804322" cy="276999"/>
              </a:xfrm>
              <a:prstGeom prst="rect">
                <a:avLst/>
              </a:prstGeom>
              <a:blipFill>
                <a:blip r:embed="rId16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011A906-B012-6086-16A4-C94341D241E2}"/>
              </a:ext>
            </a:extLst>
          </p:cNvPr>
          <p:cNvSpPr txBox="1"/>
          <p:nvPr/>
        </p:nvSpPr>
        <p:spPr bwMode="gray">
          <a:xfrm>
            <a:off x="1128529" y="1540317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Naive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D97E8F-0A55-465B-F122-38BD6BBAE174}"/>
                  </a:ext>
                </a:extLst>
              </p:cNvPr>
              <p:cNvSpPr txBox="1"/>
              <p:nvPr/>
            </p:nvSpPr>
            <p:spPr bwMode="gray">
              <a:xfrm>
                <a:off x="3995936" y="1812037"/>
                <a:ext cx="338437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x-none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D97E8F-0A55-465B-F122-38BD6BBAE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95936" y="1812037"/>
                <a:ext cx="3384376" cy="276999"/>
              </a:xfrm>
              <a:prstGeom prst="rect">
                <a:avLst/>
              </a:prstGeom>
              <a:blipFill>
                <a:blip r:embed="rId17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D3BC081-A26F-C755-0C76-FE86A224535C}"/>
              </a:ext>
            </a:extLst>
          </p:cNvPr>
          <p:cNvSpPr txBox="1"/>
          <p:nvPr/>
        </p:nvSpPr>
        <p:spPr bwMode="gray">
          <a:xfrm>
            <a:off x="4974500" y="1540317"/>
            <a:ext cx="1427247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Bayesian Network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AE5CF4D-FCDB-8422-0B8F-685A2AD8C4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2082202"/>
                  </p:ext>
                </p:extLst>
              </p:nvPr>
            </p:nvGraphicFramePr>
            <p:xfrm>
              <a:off x="3491880" y="2244085"/>
              <a:ext cx="693034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484754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4AE5CF4D-FCDB-8422-0B8F-685A2AD8C4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2082202"/>
                  </p:ext>
                </p:extLst>
              </p:nvPr>
            </p:nvGraphicFramePr>
            <p:xfrm>
              <a:off x="3491880" y="2244085"/>
              <a:ext cx="693034" cy="457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484754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8"/>
                          <a:stretch>
                            <a:fillRect r="-241176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8"/>
                          <a:stretch>
                            <a:fillRect l="-43590" r="-5128" b="-1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8"/>
                          <a:stretch>
                            <a:fillRect t="-105556" r="-241176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8"/>
                          <a:stretch>
                            <a:fillRect l="-43590" t="-105556" r="-5128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2C43D4F-5DA9-41CE-CEC8-BDC574B23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0609226"/>
                  </p:ext>
                </p:extLst>
              </p:nvPr>
            </p:nvGraphicFramePr>
            <p:xfrm>
              <a:off x="5520492" y="2244085"/>
              <a:ext cx="1272758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64791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4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159680">
                    <a:tc gridSpan="4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2C43D4F-5DA9-41CE-CEC8-BDC574B23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0609226"/>
                  </p:ext>
                </p:extLst>
              </p:nvPr>
            </p:nvGraphicFramePr>
            <p:xfrm>
              <a:off x="5520492" y="2244085"/>
              <a:ext cx="1272758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280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647918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5882" r="-511765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12500" r="-443750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200000" r="-317647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00000" r="-5882" b="-7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5882" t="-100000" r="-511765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12500" t="-100000" r="-443750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200000" t="-100000" r="-317647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00000" t="-100000" r="-5882" b="-6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5882" t="-200000" r="-511765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12500" t="-200000" r="-44375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200000" t="-200000" r="-317647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00000" t="-200000" r="-5882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4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990" t="-284211" r="-2970" b="-3894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5882" t="-405556" r="-511765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12500" t="-405556" r="-44375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200000" t="-405556" r="-317647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00000" t="-405556" r="-5882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5882" t="-505556" r="-511765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12500" t="-505556" r="-44375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200000" t="-505556" r="-317647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00000" t="-505556" r="-5882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228600">
                    <a:tc gridSpan="4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990" t="-605556" r="-2970" b="-1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5882" t="-705556" r="-511765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12500" t="-705556" r="-44375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200000" t="-705556" r="-317647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9"/>
                          <a:stretch>
                            <a:fillRect l="-100000" t="-705556" r="-5882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D5AC905-E6CB-D8D6-236F-2804C1CA87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5669785"/>
                  </p:ext>
                </p:extLst>
              </p:nvPr>
            </p:nvGraphicFramePr>
            <p:xfrm>
              <a:off x="6948264" y="2244085"/>
              <a:ext cx="1939713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9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2111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159680">
                    <a:tc grid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900" b="0" i="1" smtClean="0">
                                        <a:latin typeface="Cambria Math" panose="02040503050406030204" pitchFamily="18" charset="0"/>
                                      </a:rPr>
                                      <m:t>1112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159680">
                    <a:tc gridSpan="5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x-non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159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900" b="0" i="1" smtClean="0">
                                    <a:latin typeface="Cambria Math" panose="02040503050406030204" pitchFamily="18" charset="0"/>
                                  </a:rPr>
                                  <m:t>1−∑</m:t>
                                </m:r>
                              </m:oMath>
                            </m:oMathPara>
                          </a14:m>
                          <a:endParaRPr lang="x-none" sz="9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D5AC905-E6CB-D8D6-236F-2804C1CA87C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5669785"/>
                  </p:ext>
                </p:extLst>
              </p:nvPr>
            </p:nvGraphicFramePr>
            <p:xfrm>
              <a:off x="6948264" y="2244085"/>
              <a:ext cx="1939713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961">
                      <a:extLst>
                        <a:ext uri="{9D8B030D-6E8A-4147-A177-3AD203B41FA5}">
                          <a16:colId xmlns:a16="http://schemas.microsoft.com/office/drawing/2014/main" val="1502425811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849169594"/>
                        </a:ext>
                      </a:extLst>
                    </a:gridCol>
                    <a:gridCol w="276283">
                      <a:extLst>
                        <a:ext uri="{9D8B030D-6E8A-4147-A177-3AD203B41FA5}">
                          <a16:colId xmlns:a16="http://schemas.microsoft.com/office/drawing/2014/main" val="234114462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4273218041"/>
                        </a:ext>
                      </a:extLst>
                    </a:gridCol>
                    <a:gridCol w="1006909">
                      <a:extLst>
                        <a:ext uri="{9D8B030D-6E8A-4147-A177-3AD203B41FA5}">
                          <a16:colId xmlns:a16="http://schemas.microsoft.com/office/drawing/2014/main" val="51511714"/>
                        </a:ext>
                      </a:extLst>
                    </a:gridCol>
                  </a:tblGrid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5263" r="-721053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25000" r="-756250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63636" r="-450000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341176" r="-482353" b="-7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94937" r="-3797" b="-7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760445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5263" t="-100000" r="-721053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25000" t="-100000" r="-756250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63636" t="-100000" r="-450000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341176" t="-100000" r="-482353" b="-6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94937" t="-100000" r="-3797" b="-6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203294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5263" t="-200000" r="-721053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25000" t="-200000" r="-75625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63636" t="-200000" r="-45000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341176" t="-200000" r="-482353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94937" t="-200000" r="-3797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8427416"/>
                      </a:ext>
                    </a:extLst>
                  </a:tr>
                  <a:tr h="228600">
                    <a:tc gridSpan="5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654" t="-284211" r="-1961" b="-3894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308909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5263" t="-405556" r="-721053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25000" t="-405556" r="-75625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63636" t="-405556" r="-450000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341176" t="-405556" r="-482353" b="-3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94937" t="-405556" r="-3797" b="-3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1266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5263" t="-505556" r="-721053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25000" t="-505556" r="-75625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63636" t="-505556" r="-450000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341176" t="-505556" r="-482353" b="-2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94937" t="-505556" r="-3797" b="-2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862025"/>
                      </a:ext>
                    </a:extLst>
                  </a:tr>
                  <a:tr h="228600">
                    <a:tc gridSpan="5"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654" t="-605556" r="-1961" b="-11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/>
                          <a:endParaRPr lang="en-DE" sz="105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60712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5263" t="-705556" r="-7210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25000" t="-705556" r="-75625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163636" t="-705556" r="-450000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341176" t="-705556" r="-48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20"/>
                          <a:stretch>
                            <a:fillRect l="-94937" t="-705556" r="-3797" b="-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86961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BD8E3C-DD4B-21D3-C840-FAF176EC5470}"/>
                  </a:ext>
                </a:extLst>
              </p:cNvPr>
              <p:cNvSpPr txBox="1"/>
              <p:nvPr/>
            </p:nvSpPr>
            <p:spPr bwMode="gray">
              <a:xfrm>
                <a:off x="866645" y="4299942"/>
                <a:ext cx="91440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ABD8E3C-DD4B-21D3-C840-FAF176EC5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66645" y="4299942"/>
                <a:ext cx="914400" cy="21602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DE21F4-1BF0-6746-D31A-439A5E8AD86E}"/>
                  </a:ext>
                </a:extLst>
              </p:cNvPr>
              <p:cNvSpPr txBox="1"/>
              <p:nvPr/>
            </p:nvSpPr>
            <p:spPr bwMode="gray">
              <a:xfrm>
                <a:off x="3270514" y="4299942"/>
                <a:ext cx="91440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DE21F4-1BF0-6746-D31A-439A5E8AD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270514" y="4299942"/>
                <a:ext cx="914400" cy="21602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08029C9-74E4-57F8-EAD4-C9880ED58191}"/>
                  </a:ext>
                </a:extLst>
              </p:cNvPr>
              <p:cNvSpPr txBox="1"/>
              <p:nvPr/>
            </p:nvSpPr>
            <p:spPr bwMode="gray">
              <a:xfrm>
                <a:off x="4411550" y="4299942"/>
                <a:ext cx="91440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08029C9-74E4-57F8-EAD4-C9880ED58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11550" y="4299942"/>
                <a:ext cx="914400" cy="21602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7791DA-E094-C525-4E78-DEB96A9A39CD}"/>
                  </a:ext>
                </a:extLst>
              </p:cNvPr>
              <p:cNvSpPr txBox="1"/>
              <p:nvPr/>
            </p:nvSpPr>
            <p:spPr bwMode="gray">
              <a:xfrm>
                <a:off x="5710669" y="4299942"/>
                <a:ext cx="91440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7791DA-E094-C525-4E78-DEB96A9A3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10669" y="4299942"/>
                <a:ext cx="914400" cy="21602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019044-82B9-DC2B-43FA-73A65BCCF6C5}"/>
                  </a:ext>
                </a:extLst>
              </p:cNvPr>
              <p:cNvSpPr txBox="1"/>
              <p:nvPr/>
            </p:nvSpPr>
            <p:spPr bwMode="gray">
              <a:xfrm>
                <a:off x="7460920" y="4299942"/>
                <a:ext cx="91440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019044-82B9-DC2B-43FA-73A65BCCF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460920" y="4299942"/>
                <a:ext cx="914400" cy="21602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ECF3C8-D68A-49AD-A48F-36D4A655FBE5}"/>
                  </a:ext>
                </a:extLst>
              </p:cNvPr>
              <p:cNvSpPr txBox="1"/>
              <p:nvPr/>
            </p:nvSpPr>
            <p:spPr bwMode="gray">
              <a:xfrm>
                <a:off x="3563542" y="4638423"/>
                <a:ext cx="2147127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4ECF3C8-D68A-49AD-A48F-36D4A655F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63542" y="4638423"/>
                <a:ext cx="2147127" cy="21602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D4C42A-F0B6-03A9-7002-6444471C083D}"/>
                  </a:ext>
                </a:extLst>
              </p:cNvPr>
              <p:cNvSpPr txBox="1"/>
              <p:nvPr/>
            </p:nvSpPr>
            <p:spPr bwMode="gray">
              <a:xfrm>
                <a:off x="5415303" y="4647359"/>
                <a:ext cx="277789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105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105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D4C42A-F0B6-03A9-7002-6444471C0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15303" y="4647359"/>
                <a:ext cx="2777890" cy="21602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71C3889-912F-10B8-A37D-072C5BD2F0BB}"/>
                  </a:ext>
                </a:extLst>
              </p:cNvPr>
              <p:cNvSpPr txBox="1"/>
              <p:nvPr/>
            </p:nvSpPr>
            <p:spPr bwMode="gray">
              <a:xfrm>
                <a:off x="4411550" y="4872319"/>
                <a:ext cx="2777890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5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105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105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x-none" sz="105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71C3889-912F-10B8-A37D-072C5BD2F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11550" y="4872319"/>
                <a:ext cx="2777890" cy="21602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29AF3A0E-5A3F-6657-65E7-3B7E190EDC1E}"/>
                  </a:ext>
                </a:extLst>
              </p:cNvPr>
              <p:cNvSpPr/>
              <p:nvPr/>
            </p:nvSpPr>
            <p:spPr bwMode="gray">
              <a:xfrm>
                <a:off x="7630981" y="1203783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29AF3A0E-5A3F-6657-65E7-3B7E190ED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30981" y="1203783"/>
                <a:ext cx="216000" cy="216000"/>
              </a:xfrm>
              <a:prstGeom prst="ellipse">
                <a:avLst/>
              </a:prstGeom>
              <a:blipFill>
                <a:blip r:embed="rId29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BA4B4FB-C6D5-100E-2B16-1215116394D9}"/>
                  </a:ext>
                </a:extLst>
              </p:cNvPr>
              <p:cNvSpPr/>
              <p:nvPr/>
            </p:nvSpPr>
            <p:spPr bwMode="gray">
              <a:xfrm>
                <a:off x="8207482" y="1203783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BA4B4FB-C6D5-100E-2B16-121511639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07482" y="1203783"/>
                <a:ext cx="216000" cy="216000"/>
              </a:xfrm>
              <a:prstGeom prst="ellipse">
                <a:avLst/>
              </a:prstGeom>
              <a:blipFill>
                <a:blip r:embed="rId30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0B13A16-E095-1CBC-84C9-A2AE7E1A96D2}"/>
                  </a:ext>
                </a:extLst>
              </p:cNvPr>
              <p:cNvSpPr/>
              <p:nvPr/>
            </p:nvSpPr>
            <p:spPr bwMode="gray">
              <a:xfrm>
                <a:off x="8207482" y="1667823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0B13A16-E095-1CBC-84C9-A2AE7E1A96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207482" y="1667823"/>
                <a:ext cx="216000" cy="216000"/>
              </a:xfrm>
              <a:prstGeom prst="ellipse">
                <a:avLst/>
              </a:prstGeom>
              <a:blipFill>
                <a:blip r:embed="rId31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6FB6BF7-6C4E-142E-C5EA-508C4188C4C2}"/>
              </a:ext>
            </a:extLst>
          </p:cNvPr>
          <p:cNvCxnSpPr>
            <a:cxnSpLocks/>
            <a:stCxn id="34" idx="4"/>
            <a:endCxn id="36" idx="1"/>
          </p:cNvCxnSpPr>
          <p:nvPr/>
        </p:nvCxnSpPr>
        <p:spPr bwMode="gray">
          <a:xfrm>
            <a:off x="7738981" y="1419783"/>
            <a:ext cx="500133" cy="2796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2D562DF-CCEB-A825-FE8C-073EA49F003F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 bwMode="gray">
          <a:xfrm>
            <a:off x="7846981" y="1311783"/>
            <a:ext cx="360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0639863-5FF8-3FF9-355E-622E520B4569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 bwMode="gray">
          <a:xfrm>
            <a:off x="8315482" y="1419783"/>
            <a:ext cx="0" cy="248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718B5DB-1392-50D7-48F6-9A39F1F22220}"/>
                  </a:ext>
                </a:extLst>
              </p:cNvPr>
              <p:cNvSpPr/>
              <p:nvPr/>
            </p:nvSpPr>
            <p:spPr bwMode="gray">
              <a:xfrm>
                <a:off x="7634768" y="1667823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718B5DB-1392-50D7-48F6-9A39F1F222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634768" y="1667823"/>
                <a:ext cx="216000" cy="216000"/>
              </a:xfrm>
              <a:prstGeom prst="ellipse">
                <a:avLst/>
              </a:prstGeom>
              <a:blipFill>
                <a:blip r:embed="rId32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114923-D2E3-98BD-0913-43CACFE7EF47}"/>
              </a:ext>
            </a:extLst>
          </p:cNvPr>
          <p:cNvCxnSpPr>
            <a:cxnSpLocks/>
            <a:stCxn id="34" idx="4"/>
            <a:endCxn id="40" idx="0"/>
          </p:cNvCxnSpPr>
          <p:nvPr/>
        </p:nvCxnSpPr>
        <p:spPr bwMode="gray">
          <a:xfrm>
            <a:off x="7738981" y="1419783"/>
            <a:ext cx="3787" cy="2480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F3F413F-D09E-F7DE-DB20-3390A6D7D6EB}"/>
              </a:ext>
            </a:extLst>
          </p:cNvPr>
          <p:cNvCxnSpPr>
            <a:cxnSpLocks/>
            <a:stCxn id="35" idx="3"/>
            <a:endCxn id="40" idx="7"/>
          </p:cNvCxnSpPr>
          <p:nvPr/>
        </p:nvCxnSpPr>
        <p:spPr bwMode="gray">
          <a:xfrm flipH="1">
            <a:off x="7819136" y="1388151"/>
            <a:ext cx="419978" cy="3113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53423F9-0890-EED3-0811-B9509CC74122}"/>
              </a:ext>
            </a:extLst>
          </p:cNvPr>
          <p:cNvCxnSpPr>
            <a:cxnSpLocks/>
            <a:stCxn id="36" idx="2"/>
            <a:endCxn id="40" idx="6"/>
          </p:cNvCxnSpPr>
          <p:nvPr/>
        </p:nvCxnSpPr>
        <p:spPr bwMode="gray">
          <a:xfrm flipH="1">
            <a:off x="7850768" y="1775823"/>
            <a:ext cx="3567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7150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  <p:bldP spid="6" grpId="0"/>
      <p:bldP spid="8" grpId="0"/>
      <p:bldP spid="9" grpId="0"/>
      <p:bldP spid="15" grpId="1"/>
      <p:bldP spid="16" grpId="0"/>
      <p:bldP spid="17" grpId="0"/>
      <p:bldP spid="18" grpId="0"/>
      <p:bldP spid="19" grpId="0"/>
      <p:bldP spid="20" grpId="0"/>
      <p:bldP spid="21" grpId="0"/>
      <p:bldP spid="22" grpId="0"/>
      <p:bldP spid="34" grpId="0" animBg="1"/>
      <p:bldP spid="35" grpId="0" animBg="1"/>
      <p:bldP spid="36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A0FF215-3B95-F210-1CCB-24FF310AB98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37560" cy="3132113"/>
              </a:xfrm>
            </p:spPr>
            <p:txBody>
              <a:bodyPr/>
              <a:lstStyle/>
              <a:p>
                <a:r>
                  <a:rPr lang="en-US" dirty="0"/>
                  <a:t>One advantage of a Bayesian network is the ability to </a:t>
                </a:r>
                <a:r>
                  <a:rPr lang="en-US" i="1" dirty="0"/>
                  <a:t>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Assumption</a:t>
                </a:r>
                <a:endParaRPr lang="en-US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Sampling from the conditional distributions is simpler than from the joint distribution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There are no clamped nodes, that is, we do not condition on any variable</a:t>
                </a:r>
              </a:p>
              <a:p>
                <a:r>
                  <a:rPr lang="en-US" b="1" dirty="0"/>
                  <a:t>Problems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Sampling is </a:t>
                </a:r>
                <a:r>
                  <a:rPr lang="en-US" sz="1200" i="1" dirty="0"/>
                  <a:t>sequential </a:t>
                </a:r>
                <a:r>
                  <a:rPr lang="en-US" sz="1200" dirty="0"/>
                  <a:t>one variable at the time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Conditioning happens only on frequent events because for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A0FF215-3B95-F210-1CCB-24FF310AB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37560" cy="3132113"/>
              </a:xfrm>
              <a:blipFill>
                <a:blip r:embed="rId2"/>
                <a:stretch>
                  <a:fillRect t="-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7D15581-927D-2106-BEEB-A6B5625FA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a Bayesian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A453A2-AE0D-B94C-5DC1-6A128E2F37A9}"/>
                  </a:ext>
                </a:extLst>
              </p:cNvPr>
              <p:cNvSpPr txBox="1"/>
              <p:nvPr/>
            </p:nvSpPr>
            <p:spPr bwMode="gray">
              <a:xfrm>
                <a:off x="539552" y="1635646"/>
                <a:ext cx="6120680" cy="784317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68287" lvl="1" algn="ctr"/>
                <a:r>
                  <a:rPr lang="en-US" sz="1400" b="1" dirty="0"/>
                  <a:t>Ancestral Sampling</a:t>
                </a:r>
                <a:endParaRPr lang="en-US" sz="14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400" dirty="0"/>
                  <a:t>Topologically sort all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b>
                    </m:sSub>
                  </m:oMath>
                </a14:m>
                <a:endParaRPr lang="en-US" sz="14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400" dirty="0"/>
                  <a:t>Sample each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lang="x-none" sz="1400" dirty="0"/>
                  <a:t> using distribution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endParaRPr lang="x-none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A453A2-AE0D-B94C-5DC1-6A128E2F3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9552" y="1635646"/>
                <a:ext cx="6120680" cy="7843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5CCD21-2D86-EB94-A5C8-1B973FE907AD}"/>
                  </a:ext>
                </a:extLst>
              </p:cNvPr>
              <p:cNvSpPr txBox="1"/>
              <p:nvPr/>
            </p:nvSpPr>
            <p:spPr bwMode="gray">
              <a:xfrm>
                <a:off x="4439632" y="4412484"/>
                <a:ext cx="2808313" cy="481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5CCD21-2D86-EB94-A5C8-1B973FE90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39632" y="4412484"/>
                <a:ext cx="2808313" cy="4819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729B96-4709-44D2-DEF7-31C63BEDBC82}"/>
              </a:ext>
            </a:extLst>
          </p:cNvPr>
          <p:cNvCxnSpPr>
            <a:cxnSpLocks/>
            <a:stCxn id="10" idx="1"/>
            <a:endCxn id="17" idx="3"/>
          </p:cNvCxnSpPr>
          <p:nvPr/>
        </p:nvCxnSpPr>
        <p:spPr bwMode="gray">
          <a:xfrm flipH="1" flipV="1">
            <a:off x="3707904" y="4787832"/>
            <a:ext cx="2736304" cy="18145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1CD7C5-9F57-3AC6-F5E3-09EE271485A8}"/>
                  </a:ext>
                </a:extLst>
              </p:cNvPr>
              <p:cNvSpPr txBox="1"/>
              <p:nvPr/>
            </p:nvSpPr>
            <p:spPr bwMode="gray">
              <a:xfrm>
                <a:off x="6444208" y="4861272"/>
                <a:ext cx="1224136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en-GB" sz="1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for rare events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1CD7C5-9F57-3AC6-F5E3-09EE27148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44208" y="4861272"/>
                <a:ext cx="1224136" cy="216024"/>
              </a:xfrm>
              <a:prstGeom prst="rect">
                <a:avLst/>
              </a:prstGeom>
              <a:blipFill>
                <a:blip r:embed="rId5"/>
                <a:stretch>
                  <a:fillRect r="-2062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EA1C24-E35A-65C9-5123-5AA7AEA54D2C}"/>
                  </a:ext>
                </a:extLst>
              </p:cNvPr>
              <p:cNvSpPr txBox="1"/>
              <p:nvPr/>
            </p:nvSpPr>
            <p:spPr bwMode="gray">
              <a:xfrm>
                <a:off x="1736224" y="4381257"/>
                <a:ext cx="3123808" cy="5443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,1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 | 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∧…∧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EA1C24-E35A-65C9-5123-5AA7AEA54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36224" y="4381257"/>
                <a:ext cx="3123808" cy="544380"/>
              </a:xfrm>
              <a:prstGeom prst="rect">
                <a:avLst/>
              </a:prstGeom>
              <a:blipFill>
                <a:blip r:embed="rId6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85995B0-ACF4-1E65-F081-63AB4CCB908C}"/>
              </a:ext>
            </a:extLst>
          </p:cNvPr>
          <p:cNvSpPr/>
          <p:nvPr/>
        </p:nvSpPr>
        <p:spPr bwMode="gray">
          <a:xfrm>
            <a:off x="2915816" y="4681252"/>
            <a:ext cx="792088" cy="213159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5738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0" grpId="0"/>
      <p:bldP spid="16" grpId="0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E38C6F-3CEE-0B1F-0C72-BC0492A89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a Bayesian Network: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CC6559A-6A99-F508-BA76-B0B2FC7AE7B5}"/>
                  </a:ext>
                </a:extLst>
              </p:cNvPr>
              <p:cNvSpPr/>
              <p:nvPr/>
            </p:nvSpPr>
            <p:spPr bwMode="gray">
              <a:xfrm>
                <a:off x="1043608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CC6559A-6A99-F508-BA76-B0B2FC7AE7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43608" y="3075838"/>
                <a:ext cx="288000" cy="288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FA8812C-88A6-3B7E-160F-F1F8375058A3}"/>
                  </a:ext>
                </a:extLst>
              </p:cNvPr>
              <p:cNvSpPr/>
              <p:nvPr/>
            </p:nvSpPr>
            <p:spPr bwMode="gray">
              <a:xfrm>
                <a:off x="2195760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FA8812C-88A6-3B7E-160F-F1F8375058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60" y="3075838"/>
                <a:ext cx="288000" cy="288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94A4FD1-D055-422C-DC4F-CB7F7BDCA717}"/>
                  </a:ext>
                </a:extLst>
              </p:cNvPr>
              <p:cNvSpPr/>
              <p:nvPr/>
            </p:nvSpPr>
            <p:spPr bwMode="gray">
              <a:xfrm>
                <a:off x="1043608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94A4FD1-D055-422C-DC4F-CB7F7BDCA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43608" y="3939902"/>
                <a:ext cx="288000" cy="288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D38219C-9C4D-355F-4E96-0BA4A62DADD9}"/>
                  </a:ext>
                </a:extLst>
              </p:cNvPr>
              <p:cNvSpPr/>
              <p:nvPr/>
            </p:nvSpPr>
            <p:spPr bwMode="gray">
              <a:xfrm>
                <a:off x="2195760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D38219C-9C4D-355F-4E96-0BA4A62DAD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60" y="3939902"/>
                <a:ext cx="288000" cy="288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C66BAE0-FD68-D8E9-3541-36C4B1B8C8B2}"/>
                  </a:ext>
                </a:extLst>
              </p:cNvPr>
              <p:cNvSpPr/>
              <p:nvPr/>
            </p:nvSpPr>
            <p:spPr bwMode="gray">
              <a:xfrm>
                <a:off x="1620141" y="4660014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C66BAE0-FD68-D8E9-3541-36C4B1B8C8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20141" y="4660014"/>
                <a:ext cx="288000" cy="288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34D7CB4-590C-7C80-45DD-B222A6122F14}"/>
              </a:ext>
            </a:extLst>
          </p:cNvPr>
          <p:cNvCxnSpPr>
            <a:stCxn id="4" idx="4"/>
            <a:endCxn id="6" idx="0"/>
          </p:cNvCxnSpPr>
          <p:nvPr/>
        </p:nvCxnSpPr>
        <p:spPr bwMode="gray">
          <a:xfrm>
            <a:off x="1187608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9DAE23-2FEE-CBBE-8AAC-68472DB210FB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 bwMode="gray">
          <a:xfrm>
            <a:off x="2339760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0F5D62-27A3-3087-08A2-91B52C40046A}"/>
              </a:ext>
            </a:extLst>
          </p:cNvPr>
          <p:cNvCxnSpPr>
            <a:cxnSpLocks/>
            <a:stCxn id="7" idx="4"/>
            <a:endCxn id="8" idx="7"/>
          </p:cNvCxnSpPr>
          <p:nvPr/>
        </p:nvCxnSpPr>
        <p:spPr bwMode="gray">
          <a:xfrm flipH="1">
            <a:off x="1865964" y="4227902"/>
            <a:ext cx="473796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1EAD4E-2067-FABF-AAC1-3AA80685837D}"/>
              </a:ext>
            </a:extLst>
          </p:cNvPr>
          <p:cNvCxnSpPr>
            <a:cxnSpLocks/>
            <a:stCxn id="6" idx="4"/>
            <a:endCxn id="8" idx="1"/>
          </p:cNvCxnSpPr>
          <p:nvPr/>
        </p:nvCxnSpPr>
        <p:spPr bwMode="gray">
          <a:xfrm>
            <a:off x="1187608" y="4227902"/>
            <a:ext cx="474710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C5BDE7-CA7F-0DDB-0501-9B03FB086E93}"/>
                  </a:ext>
                </a:extLst>
              </p:cNvPr>
              <p:cNvSpPr txBox="1"/>
              <p:nvPr/>
            </p:nvSpPr>
            <p:spPr bwMode="gray">
              <a:xfrm>
                <a:off x="671390" y="1760876"/>
                <a:ext cx="5350122" cy="2795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x-none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C5BDE7-CA7F-0DDB-0501-9B03FB086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1390" y="1760876"/>
                <a:ext cx="5350122" cy="279564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DD6D85A1-F35F-F326-DDAC-5BEE35D4B0E5}"/>
                  </a:ext>
                </a:extLst>
              </p:cNvPr>
              <p:cNvSpPr/>
              <p:nvPr/>
            </p:nvSpPr>
            <p:spPr bwMode="gray">
              <a:xfrm>
                <a:off x="4993431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DD6D85A1-F35F-F326-DDAC-5BEE35D4B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93431" y="3075838"/>
                <a:ext cx="288000" cy="288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BAB9335-BFED-1AA3-C615-599EDFF2A508}"/>
                  </a:ext>
                </a:extLst>
              </p:cNvPr>
              <p:cNvSpPr/>
              <p:nvPr/>
            </p:nvSpPr>
            <p:spPr bwMode="gray">
              <a:xfrm>
                <a:off x="6145583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BAB9335-BFED-1AA3-C615-599EDFF2A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45583" y="3075838"/>
                <a:ext cx="288000" cy="288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6BCD661-8716-07A8-DA04-FDC4B34CDB07}"/>
                  </a:ext>
                </a:extLst>
              </p:cNvPr>
              <p:cNvSpPr/>
              <p:nvPr/>
            </p:nvSpPr>
            <p:spPr bwMode="gray">
              <a:xfrm>
                <a:off x="4993431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D6BCD661-8716-07A8-DA04-FDC4B34CDB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93431" y="3939902"/>
                <a:ext cx="288000" cy="288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896DAD2-BE7F-FF18-F55E-90557C14002F}"/>
                  </a:ext>
                </a:extLst>
              </p:cNvPr>
              <p:cNvSpPr/>
              <p:nvPr/>
            </p:nvSpPr>
            <p:spPr bwMode="gray">
              <a:xfrm>
                <a:off x="6145583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896DAD2-BE7F-FF18-F55E-90557C1400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45583" y="3939902"/>
                <a:ext cx="288000" cy="288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1BC7D8B-9FE6-4348-6D0D-DE987C200B81}"/>
                  </a:ext>
                </a:extLst>
              </p:cNvPr>
              <p:cNvSpPr/>
              <p:nvPr/>
            </p:nvSpPr>
            <p:spPr bwMode="gray">
              <a:xfrm>
                <a:off x="5569964" y="4660014"/>
                <a:ext cx="288000" cy="288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1BC7D8B-9FE6-4348-6D0D-DE987C200B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69964" y="4660014"/>
                <a:ext cx="288000" cy="2880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BB3117-2C0A-64A7-BA37-84A68C0DD036}"/>
              </a:ext>
            </a:extLst>
          </p:cNvPr>
          <p:cNvCxnSpPr>
            <a:stCxn id="14" idx="4"/>
            <a:endCxn id="16" idx="0"/>
          </p:cNvCxnSpPr>
          <p:nvPr/>
        </p:nvCxnSpPr>
        <p:spPr bwMode="gray">
          <a:xfrm>
            <a:off x="5137431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8C5382-B981-D28B-8E9D-06F5F188D690}"/>
              </a:ext>
            </a:extLst>
          </p:cNvPr>
          <p:cNvCxnSpPr>
            <a:cxnSpLocks/>
            <a:stCxn id="15" idx="4"/>
            <a:endCxn id="17" idx="0"/>
          </p:cNvCxnSpPr>
          <p:nvPr/>
        </p:nvCxnSpPr>
        <p:spPr bwMode="gray">
          <a:xfrm>
            <a:off x="6289583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5BF556-28C2-BE2D-C7C2-4A07A487CBEE}"/>
              </a:ext>
            </a:extLst>
          </p:cNvPr>
          <p:cNvCxnSpPr>
            <a:cxnSpLocks/>
            <a:stCxn id="17" idx="4"/>
            <a:endCxn id="18" idx="7"/>
          </p:cNvCxnSpPr>
          <p:nvPr/>
        </p:nvCxnSpPr>
        <p:spPr bwMode="gray">
          <a:xfrm flipH="1">
            <a:off x="5815787" y="4227902"/>
            <a:ext cx="473796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17D52D-D3C7-9E0E-9973-29249EB1BC7E}"/>
              </a:ext>
            </a:extLst>
          </p:cNvPr>
          <p:cNvCxnSpPr>
            <a:cxnSpLocks/>
            <a:stCxn id="16" idx="4"/>
            <a:endCxn id="18" idx="1"/>
          </p:cNvCxnSpPr>
          <p:nvPr/>
        </p:nvCxnSpPr>
        <p:spPr bwMode="gray">
          <a:xfrm>
            <a:off x="5137431" y="4227902"/>
            <a:ext cx="474710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CACF180-4604-2C95-538C-8200B48C881F}"/>
              </a:ext>
            </a:extLst>
          </p:cNvPr>
          <p:cNvSpPr txBox="1"/>
          <p:nvPr/>
        </p:nvSpPr>
        <p:spPr bwMode="gray">
          <a:xfrm>
            <a:off x="648017" y="2606794"/>
            <a:ext cx="2232248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x-none" sz="1200" b="1" dirty="0"/>
              <a:t>Without match outcome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16371E-F65C-4B6C-259F-F0A9D61B546A}"/>
                  </a:ext>
                </a:extLst>
              </p:cNvPr>
              <p:cNvSpPr txBox="1"/>
              <p:nvPr/>
            </p:nvSpPr>
            <p:spPr bwMode="gray">
              <a:xfrm>
                <a:off x="4436047" y="2606794"/>
                <a:ext cx="255583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x-none" sz="1200" b="1" dirty="0"/>
                  <a:t>With match outcome (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x-none" sz="1200" b="1" dirty="0"/>
                  <a:t>)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16371E-F65C-4B6C-259F-F0A9D61B5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36047" y="2606794"/>
                <a:ext cx="2555833" cy="276999"/>
              </a:xfrm>
              <a:prstGeom prst="rect">
                <a:avLst/>
              </a:prstGeom>
              <a:blipFill>
                <a:blip r:embed="rId13"/>
                <a:stretch>
                  <a:fillRect t="-4348" b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79" name="Graphic 4178">
            <a:extLst>
              <a:ext uri="{FF2B5EF4-FFF2-40B4-BE49-F238E27FC236}">
                <a16:creationId xmlns:a16="http://schemas.microsoft.com/office/drawing/2014/main" id="{0F13B0D0-1F31-9D52-F319-AFFE566425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74122" y="3761386"/>
            <a:ext cx="960261" cy="640173"/>
          </a:xfrm>
          <a:prstGeom prst="rect">
            <a:avLst/>
          </a:prstGeom>
        </p:spPr>
      </p:pic>
      <p:pic>
        <p:nvPicPr>
          <p:cNvPr id="4181" name="Graphic 4180">
            <a:extLst>
              <a:ext uri="{FF2B5EF4-FFF2-40B4-BE49-F238E27FC236}">
                <a16:creationId xmlns:a16="http://schemas.microsoft.com/office/drawing/2014/main" id="{DC48F67B-8CB2-A7F7-4749-EA174B1608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3701" y="3761385"/>
            <a:ext cx="960261" cy="640173"/>
          </a:xfrm>
          <a:prstGeom prst="rect">
            <a:avLst/>
          </a:prstGeom>
        </p:spPr>
      </p:pic>
      <p:pic>
        <p:nvPicPr>
          <p:cNvPr id="4183" name="Graphic 4182">
            <a:extLst>
              <a:ext uri="{FF2B5EF4-FFF2-40B4-BE49-F238E27FC236}">
                <a16:creationId xmlns:a16="http://schemas.microsoft.com/office/drawing/2014/main" id="{2D8EEC2A-0883-4C1B-4077-93E655ACB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93229" y="3763815"/>
            <a:ext cx="960261" cy="640173"/>
          </a:xfrm>
          <a:prstGeom prst="rect">
            <a:avLst/>
          </a:prstGeom>
        </p:spPr>
      </p:pic>
      <p:pic>
        <p:nvPicPr>
          <p:cNvPr id="4185" name="Graphic 4184">
            <a:extLst>
              <a:ext uri="{FF2B5EF4-FFF2-40B4-BE49-F238E27FC236}">
                <a16:creationId xmlns:a16="http://schemas.microsoft.com/office/drawing/2014/main" id="{36443A97-FAA2-5BD1-AF56-0F5E1F8677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42808" y="3761386"/>
            <a:ext cx="960261" cy="640173"/>
          </a:xfrm>
          <a:prstGeom prst="rect">
            <a:avLst/>
          </a:prstGeom>
        </p:spPr>
      </p:pic>
      <p:pic>
        <p:nvPicPr>
          <p:cNvPr id="4187" name="Graphic 4186">
            <a:extLst>
              <a:ext uri="{FF2B5EF4-FFF2-40B4-BE49-F238E27FC236}">
                <a16:creationId xmlns:a16="http://schemas.microsoft.com/office/drawing/2014/main" id="{6F4328B9-CDAA-E36E-F74B-0D5B63CE9E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74122" y="2899750"/>
            <a:ext cx="960261" cy="640173"/>
          </a:xfrm>
          <a:prstGeom prst="rect">
            <a:avLst/>
          </a:prstGeom>
        </p:spPr>
      </p:pic>
      <p:pic>
        <p:nvPicPr>
          <p:cNvPr id="4189" name="Graphic 4188">
            <a:extLst>
              <a:ext uri="{FF2B5EF4-FFF2-40B4-BE49-F238E27FC236}">
                <a16:creationId xmlns:a16="http://schemas.microsoft.com/office/drawing/2014/main" id="{CFFE2808-BD8F-74F7-2045-7A4B5A8B94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600" y="2899751"/>
            <a:ext cx="960261" cy="640173"/>
          </a:xfrm>
          <a:prstGeom prst="rect">
            <a:avLst/>
          </a:prstGeom>
        </p:spPr>
      </p:pic>
      <p:pic>
        <p:nvPicPr>
          <p:cNvPr id="4191" name="Graphic 4190">
            <a:extLst>
              <a:ext uri="{FF2B5EF4-FFF2-40B4-BE49-F238E27FC236}">
                <a16:creationId xmlns:a16="http://schemas.microsoft.com/office/drawing/2014/main" id="{4BEA0088-D774-4D71-FD54-7324D60035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89580" y="2899750"/>
            <a:ext cx="960261" cy="640173"/>
          </a:xfrm>
          <a:prstGeom prst="rect">
            <a:avLst/>
          </a:prstGeom>
        </p:spPr>
      </p:pic>
      <p:pic>
        <p:nvPicPr>
          <p:cNvPr id="4193" name="Graphic 4192">
            <a:extLst>
              <a:ext uri="{FF2B5EF4-FFF2-40B4-BE49-F238E27FC236}">
                <a16:creationId xmlns:a16="http://schemas.microsoft.com/office/drawing/2014/main" id="{C97E2AD4-D601-D7AD-912C-34E09CF3DB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542808" y="2899751"/>
            <a:ext cx="960261" cy="640173"/>
          </a:xfrm>
          <a:prstGeom prst="rect">
            <a:avLst/>
          </a:prstGeom>
        </p:spPr>
      </p:pic>
      <p:pic>
        <p:nvPicPr>
          <p:cNvPr id="4194" name="Picture 4193">
            <a:extLst>
              <a:ext uri="{FF2B5EF4-FFF2-40B4-BE49-F238E27FC236}">
                <a16:creationId xmlns:a16="http://schemas.microsoft.com/office/drawing/2014/main" id="{2692C299-1660-295B-4DBD-443A27CC73B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24439" y="1231748"/>
            <a:ext cx="2629595" cy="126802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0B66B3ED-33DC-DB25-123C-DD0014605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111189" y="4503326"/>
            <a:ext cx="960261" cy="6401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3667FA-89E1-AB27-832C-6A2DB366E25A}"/>
                  </a:ext>
                </a:extLst>
              </p:cNvPr>
              <p:cNvSpPr txBox="1"/>
              <p:nvPr/>
            </p:nvSpPr>
            <p:spPr bwMode="gray">
              <a:xfrm>
                <a:off x="671390" y="2116834"/>
                <a:ext cx="5350122" cy="2795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3667FA-89E1-AB27-832C-6A2DB366E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1390" y="2116834"/>
                <a:ext cx="5350122" cy="27956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94006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24" grpId="0" animBg="1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B53C-9D84-FBFF-A2C2-9AB75260B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13CA6F-34EC-8021-2611-A530DFBA9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a Bayesian Network: Example (</a:t>
            </a:r>
            <a:r>
              <a:rPr lang="en-US" dirty="0" err="1"/>
              <a:t>ctd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102AC15-F311-0C63-D8CE-405D747D0D1C}"/>
                  </a:ext>
                </a:extLst>
              </p:cNvPr>
              <p:cNvSpPr/>
              <p:nvPr/>
            </p:nvSpPr>
            <p:spPr bwMode="gray">
              <a:xfrm>
                <a:off x="1043608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102AC15-F311-0C63-D8CE-405D747D0D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43608" y="3075838"/>
                <a:ext cx="288000" cy="288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F514616-DB3F-742F-08FD-39A8EE5585DC}"/>
                  </a:ext>
                </a:extLst>
              </p:cNvPr>
              <p:cNvSpPr/>
              <p:nvPr/>
            </p:nvSpPr>
            <p:spPr bwMode="gray">
              <a:xfrm>
                <a:off x="2195760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F514616-DB3F-742F-08FD-39A8EE5585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60" y="3075838"/>
                <a:ext cx="288000" cy="288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831907C-ABA4-7287-FB50-F7D65EE29ECC}"/>
                  </a:ext>
                </a:extLst>
              </p:cNvPr>
              <p:cNvSpPr/>
              <p:nvPr/>
            </p:nvSpPr>
            <p:spPr bwMode="gray">
              <a:xfrm>
                <a:off x="1043608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831907C-ABA4-7287-FB50-F7D65EE29E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43608" y="3939902"/>
                <a:ext cx="288000" cy="288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AABE508-7306-4175-3CA0-8E382D962CAA}"/>
                  </a:ext>
                </a:extLst>
              </p:cNvPr>
              <p:cNvSpPr/>
              <p:nvPr/>
            </p:nvSpPr>
            <p:spPr bwMode="gray">
              <a:xfrm>
                <a:off x="2195760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AABE508-7306-4175-3CA0-8E382D962C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95760" y="3939902"/>
                <a:ext cx="288000" cy="288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33C1260-6CAB-C280-CFAE-0E5D524CDD8D}"/>
                  </a:ext>
                </a:extLst>
              </p:cNvPr>
              <p:cNvSpPr/>
              <p:nvPr/>
            </p:nvSpPr>
            <p:spPr bwMode="gray">
              <a:xfrm>
                <a:off x="1620141" y="4660014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33C1260-6CAB-C280-CFAE-0E5D524CDD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20141" y="4660014"/>
                <a:ext cx="288000" cy="288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CD4AE9-2E22-FE1A-0A7C-67932C58D9F3}"/>
              </a:ext>
            </a:extLst>
          </p:cNvPr>
          <p:cNvCxnSpPr>
            <a:stCxn id="4" idx="4"/>
            <a:endCxn id="6" idx="0"/>
          </p:cNvCxnSpPr>
          <p:nvPr/>
        </p:nvCxnSpPr>
        <p:spPr bwMode="gray">
          <a:xfrm>
            <a:off x="1187608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71A4E7-94A6-3E63-4C32-C8B2821F606F}"/>
              </a:ext>
            </a:extLst>
          </p:cNvPr>
          <p:cNvCxnSpPr>
            <a:cxnSpLocks/>
            <a:stCxn id="5" idx="4"/>
            <a:endCxn id="7" idx="0"/>
          </p:cNvCxnSpPr>
          <p:nvPr/>
        </p:nvCxnSpPr>
        <p:spPr bwMode="gray">
          <a:xfrm>
            <a:off x="2339760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081304-256A-9E77-E41A-B277A30E9BFA}"/>
              </a:ext>
            </a:extLst>
          </p:cNvPr>
          <p:cNvCxnSpPr>
            <a:cxnSpLocks/>
            <a:stCxn id="7" idx="4"/>
            <a:endCxn id="8" idx="7"/>
          </p:cNvCxnSpPr>
          <p:nvPr/>
        </p:nvCxnSpPr>
        <p:spPr bwMode="gray">
          <a:xfrm flipH="1">
            <a:off x="1865964" y="4227902"/>
            <a:ext cx="473796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687E77-27D6-6DC3-BE42-15611F7B8FF6}"/>
              </a:ext>
            </a:extLst>
          </p:cNvPr>
          <p:cNvCxnSpPr>
            <a:cxnSpLocks/>
            <a:stCxn id="6" idx="4"/>
            <a:endCxn id="8" idx="1"/>
          </p:cNvCxnSpPr>
          <p:nvPr/>
        </p:nvCxnSpPr>
        <p:spPr bwMode="gray">
          <a:xfrm>
            <a:off x="1187608" y="4227902"/>
            <a:ext cx="474710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1118910-243F-31B5-C825-92655B10D1CA}"/>
                  </a:ext>
                </a:extLst>
              </p:cNvPr>
              <p:cNvSpPr/>
              <p:nvPr/>
            </p:nvSpPr>
            <p:spPr bwMode="gray">
              <a:xfrm>
                <a:off x="4993431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1118910-243F-31B5-C825-92655B10D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93431" y="3075838"/>
                <a:ext cx="288000" cy="2880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040DE3F-41FE-CFE5-AA4F-14A23A6FDCAA}"/>
                  </a:ext>
                </a:extLst>
              </p:cNvPr>
              <p:cNvSpPr/>
              <p:nvPr/>
            </p:nvSpPr>
            <p:spPr bwMode="gray">
              <a:xfrm>
                <a:off x="6145583" y="3075838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040DE3F-41FE-CFE5-AA4F-14A23A6FDC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45583" y="3075838"/>
                <a:ext cx="288000" cy="288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9B805D-7683-6E1B-091A-B1E34F87EC02}"/>
                  </a:ext>
                </a:extLst>
              </p:cNvPr>
              <p:cNvSpPr/>
              <p:nvPr/>
            </p:nvSpPr>
            <p:spPr bwMode="gray">
              <a:xfrm>
                <a:off x="4993431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59B805D-7683-6E1B-091A-B1E34F87EC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93431" y="3939902"/>
                <a:ext cx="288000" cy="2880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550C158-BDD6-8A35-CC84-53F0FC23FFF8}"/>
                  </a:ext>
                </a:extLst>
              </p:cNvPr>
              <p:cNvSpPr/>
              <p:nvPr/>
            </p:nvSpPr>
            <p:spPr bwMode="gray">
              <a:xfrm>
                <a:off x="6145583" y="3939902"/>
                <a:ext cx="288000" cy="288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550C158-BDD6-8A35-CC84-53F0FC23FF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45583" y="3939902"/>
                <a:ext cx="288000" cy="288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4344B15-B9A1-77AC-DD50-9D4203492E91}"/>
                  </a:ext>
                </a:extLst>
              </p:cNvPr>
              <p:cNvSpPr/>
              <p:nvPr/>
            </p:nvSpPr>
            <p:spPr bwMode="gray">
              <a:xfrm>
                <a:off x="5569964" y="4660014"/>
                <a:ext cx="288000" cy="288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4344B15-B9A1-77AC-DD50-9D4203492E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69964" y="4660014"/>
                <a:ext cx="288000" cy="2880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66D3D0-E92E-8482-AB0C-37CDACF28036}"/>
              </a:ext>
            </a:extLst>
          </p:cNvPr>
          <p:cNvCxnSpPr>
            <a:stCxn id="14" idx="4"/>
            <a:endCxn id="16" idx="0"/>
          </p:cNvCxnSpPr>
          <p:nvPr/>
        </p:nvCxnSpPr>
        <p:spPr bwMode="gray">
          <a:xfrm>
            <a:off x="5137431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F8938D-ED02-C5CA-53CB-D7CD941CDB42}"/>
              </a:ext>
            </a:extLst>
          </p:cNvPr>
          <p:cNvCxnSpPr>
            <a:cxnSpLocks/>
            <a:stCxn id="15" idx="4"/>
            <a:endCxn id="17" idx="0"/>
          </p:cNvCxnSpPr>
          <p:nvPr/>
        </p:nvCxnSpPr>
        <p:spPr bwMode="gray">
          <a:xfrm>
            <a:off x="6289583" y="3363838"/>
            <a:ext cx="0" cy="576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D94DD2-5C61-C04B-5150-F0941A461846}"/>
              </a:ext>
            </a:extLst>
          </p:cNvPr>
          <p:cNvCxnSpPr>
            <a:cxnSpLocks/>
            <a:stCxn id="17" idx="4"/>
            <a:endCxn id="18" idx="7"/>
          </p:cNvCxnSpPr>
          <p:nvPr/>
        </p:nvCxnSpPr>
        <p:spPr bwMode="gray">
          <a:xfrm flipH="1">
            <a:off x="5815787" y="4227902"/>
            <a:ext cx="473796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682FBD-2B9F-119B-E364-0BE084E18CC9}"/>
              </a:ext>
            </a:extLst>
          </p:cNvPr>
          <p:cNvCxnSpPr>
            <a:cxnSpLocks/>
            <a:stCxn id="16" idx="4"/>
            <a:endCxn id="18" idx="1"/>
          </p:cNvCxnSpPr>
          <p:nvPr/>
        </p:nvCxnSpPr>
        <p:spPr bwMode="gray">
          <a:xfrm>
            <a:off x="5137431" y="4227902"/>
            <a:ext cx="474710" cy="4742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C7D7C28-C752-27CC-1CB2-4CF482CFF46D}"/>
              </a:ext>
            </a:extLst>
          </p:cNvPr>
          <p:cNvSpPr txBox="1"/>
          <p:nvPr/>
        </p:nvSpPr>
        <p:spPr bwMode="gray">
          <a:xfrm>
            <a:off x="648017" y="2606794"/>
            <a:ext cx="2232248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x-none" sz="1200" b="1" dirty="0"/>
              <a:t>Without match outcome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5DF8CB3-61B6-03B7-B18E-851158AF001D}"/>
                  </a:ext>
                </a:extLst>
              </p:cNvPr>
              <p:cNvSpPr txBox="1"/>
              <p:nvPr/>
            </p:nvSpPr>
            <p:spPr bwMode="gray">
              <a:xfrm>
                <a:off x="4436047" y="2606794"/>
                <a:ext cx="255583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x-none" sz="1200" b="1" dirty="0"/>
                  <a:t>With match outcome (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x-none" sz="1200" b="1" dirty="0"/>
                  <a:t>)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516371E-F65C-4B6C-259F-F0A9D61B5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436047" y="2606794"/>
                <a:ext cx="2555833" cy="276999"/>
              </a:xfrm>
              <a:prstGeom prst="rect">
                <a:avLst/>
              </a:prstGeom>
              <a:blipFill>
                <a:blip r:embed="rId13"/>
                <a:stretch>
                  <a:fillRect t="-4348" b="-86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Graphic 43">
            <a:extLst>
              <a:ext uri="{FF2B5EF4-FFF2-40B4-BE49-F238E27FC236}">
                <a16:creationId xmlns:a16="http://schemas.microsoft.com/office/drawing/2014/main" id="{6C805655-6638-423B-7A97-7806D1E34F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96668" y="4502862"/>
            <a:ext cx="960261" cy="640174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EA726DCA-4D08-BB0A-54B4-3850FABBC8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3700" y="3761384"/>
            <a:ext cx="960261" cy="640174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9F89D31E-2169-1B0B-94C7-3912A0687D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69224" y="3761384"/>
            <a:ext cx="960261" cy="640174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9B3D7445-7525-8C82-E4EC-D320B0FCC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546652" y="3761384"/>
            <a:ext cx="960261" cy="640174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7076B5D4-D6BB-D3E9-9DDC-AE8445F6E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97529" y="3761385"/>
            <a:ext cx="960261" cy="640174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FBE66069-2009-3AE0-4B0B-8A63A5C955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701" y="2899749"/>
            <a:ext cx="960261" cy="640174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95F0D99A-7D69-AE7A-C9C8-0987553869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974917" y="2883793"/>
            <a:ext cx="960261" cy="640174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06A70BDD-4D5F-3475-C161-4B83EFB425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542808" y="2899749"/>
            <a:ext cx="960261" cy="640174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1C20BA09-064B-9E48-6D03-ED29C41090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93229" y="2899749"/>
            <a:ext cx="960261" cy="6401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D8C95BC-11A1-27AE-D52F-D990DDDE9CFE}"/>
                  </a:ext>
                </a:extLst>
              </p:cNvPr>
              <p:cNvSpPr txBox="1"/>
              <p:nvPr/>
            </p:nvSpPr>
            <p:spPr bwMode="gray">
              <a:xfrm>
                <a:off x="671390" y="1760876"/>
                <a:ext cx="5350122" cy="27956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x-none" sz="1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D8C95BC-11A1-27AE-D52F-D990DDDE9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1390" y="1760876"/>
                <a:ext cx="5350122" cy="279564"/>
              </a:xfrm>
              <a:prstGeom prst="rect">
                <a:avLst/>
              </a:prstGeom>
              <a:blipFill>
                <a:blip r:embed="rId32"/>
                <a:stretch>
                  <a:fillRect b="-8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C6EEF83-EA57-6498-4E06-2C4B5A0106D0}"/>
                  </a:ext>
                </a:extLst>
              </p:cNvPr>
              <p:cNvSpPr txBox="1"/>
              <p:nvPr/>
            </p:nvSpPr>
            <p:spPr bwMode="gray">
              <a:xfrm>
                <a:off x="671390" y="2116834"/>
                <a:ext cx="5350122" cy="2795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C6EEF83-EA57-6498-4E06-2C4B5A010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1390" y="2116834"/>
                <a:ext cx="5350122" cy="27956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35922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dirty="0"/>
              <a:t>Graphical Models</a:t>
            </a:r>
          </a:p>
          <a:p>
            <a:pPr marL="342900" indent="-342900"/>
            <a:r>
              <a:rPr lang="en-US" altLang="x-none" dirty="0"/>
              <a:t>Bayesian Networks</a:t>
            </a:r>
          </a:p>
          <a:p>
            <a:pPr marL="342900" indent="-342900"/>
            <a:r>
              <a:rPr lang="en-US" altLang="x-none" b="1" dirty="0"/>
              <a:t>Conditional Independence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298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49528" cy="3563938"/>
              </a:xfrm>
            </p:spPr>
            <p:txBody>
              <a:bodyPr/>
              <a:lstStyle/>
              <a:p>
                <a:r>
                  <a:rPr lang="en-US" dirty="0"/>
                  <a:t>In modelling specific data, domain experts often know whether two (latent) measurements can affect each other or not (i.e., are independent)</a:t>
                </a:r>
              </a:p>
              <a:p>
                <a:pPr lvl="1"/>
                <a:r>
                  <a:rPr lang="en-US" sz="1200" b="1" dirty="0"/>
                  <a:t>Examples</a:t>
                </a:r>
                <a:r>
                  <a:rPr lang="en-US" sz="1200" dirty="0"/>
                  <a:t>: </a:t>
                </a:r>
              </a:p>
              <a:p>
                <a:pPr lvl="2"/>
                <a:r>
                  <a:rPr lang="en-US" sz="1200" dirty="0"/>
                  <a:t>Skills of two players in a video game are not dependent if they never played before </a:t>
                </a:r>
              </a:p>
              <a:p>
                <a:pPr lvl="2"/>
                <a:r>
                  <a:rPr lang="en-US" sz="1200" dirty="0"/>
                  <a:t>Skills of two players in a video game </a:t>
                </a:r>
                <a:r>
                  <a:rPr lang="en-US" sz="1200" i="1" dirty="0"/>
                  <a:t>are</a:t>
                </a:r>
                <a:r>
                  <a:rPr lang="en-US" sz="1200" dirty="0"/>
                  <a:t> dependent if they have played many times!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Bayesian networks are useful to determine conditional independence.</a:t>
                </a:r>
              </a:p>
              <a:p>
                <a:r>
                  <a:rPr lang="en-US" b="1" dirty="0"/>
                  <a:t>Conditional Independence</a:t>
                </a:r>
                <a:r>
                  <a:rPr lang="en-US" dirty="0"/>
                  <a:t>. </a:t>
                </a:r>
                <a:r>
                  <a:rPr lang="en-US" i="1" dirty="0"/>
                  <a:t>A random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is conditionally independent of a random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i="1" dirty="0"/>
                  <a:t> given the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i="1" dirty="0"/>
                  <a:t> if for all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sz="1200" dirty="0"/>
                  <a:t>Equivalent definition: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Shorthand notation (</a:t>
                </a:r>
                <a:r>
                  <a:rPr lang="en-US" sz="1200" dirty="0" err="1"/>
                  <a:t>Dawid</a:t>
                </a:r>
                <a:r>
                  <a:rPr lang="en-US" sz="1200" dirty="0"/>
                  <a:t>, 1979):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1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49528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BA71FA-AD23-95A1-9C21-AA1250DF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1F1488-7F54-D0AA-E42A-8A00DA28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37771" y="1187559"/>
            <a:ext cx="648072" cy="97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73F08F-8B5F-D737-B092-D02B380770F9}"/>
              </a:ext>
            </a:extLst>
          </p:cNvPr>
          <p:cNvSpPr txBox="1"/>
          <p:nvPr/>
        </p:nvSpPr>
        <p:spPr bwMode="gray">
          <a:xfrm>
            <a:off x="7806716" y="2161188"/>
            <a:ext cx="910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Philip </a:t>
            </a:r>
            <a:r>
              <a:rPr lang="en-US" sz="800" b="1" dirty="0" err="1">
                <a:solidFill>
                  <a:srgbClr val="202122"/>
                </a:solidFill>
                <a:latin typeface="Arial" panose="020B0604020202020204" pitchFamily="34" charset="0"/>
              </a:rPr>
              <a:t>Dawid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(1946– 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847048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Tail-to-Tail Node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)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Head-to-Tail Node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1" dirty="0"/>
                  <a:t>)</a:t>
                </a:r>
                <a:r>
                  <a:rPr lang="en-US" dirty="0"/>
                  <a:t>: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1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BA71FA-AD23-95A1-9C21-AA1250DF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Independence: Warm-Up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001CACE-6784-CE25-1D13-E04482FFC3E6}"/>
                  </a:ext>
                </a:extLst>
              </p:cNvPr>
              <p:cNvSpPr/>
              <p:nvPr/>
            </p:nvSpPr>
            <p:spPr bwMode="gray">
              <a:xfrm>
                <a:off x="1791864" y="167166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001CACE-6784-CE25-1D13-E04482FFC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91864" y="1671662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004B6A-6E25-EC4D-2775-74DE086CC86D}"/>
                  </a:ext>
                </a:extLst>
              </p:cNvPr>
              <p:cNvSpPr/>
              <p:nvPr/>
            </p:nvSpPr>
            <p:spPr bwMode="gray">
              <a:xfrm>
                <a:off x="2108073" y="206355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004B6A-6E25-EC4D-2775-74DE086CC8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08073" y="2063557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B35772F-7A9A-0C2A-2CC5-6FAD06ED490B}"/>
                  </a:ext>
                </a:extLst>
              </p:cNvPr>
              <p:cNvSpPr/>
              <p:nvPr/>
            </p:nvSpPr>
            <p:spPr bwMode="gray">
              <a:xfrm>
                <a:off x="1475656" y="206355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B35772F-7A9A-0C2A-2CC5-6FAD06ED49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75656" y="2063557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A90DA2-A7F4-F5B9-DAF5-4FF8EF9A77A0}"/>
              </a:ext>
            </a:extLst>
          </p:cNvPr>
          <p:cNvCxnSpPr>
            <a:cxnSpLocks/>
            <a:stCxn id="7" idx="3"/>
            <a:endCxn id="9" idx="7"/>
          </p:cNvCxnSpPr>
          <p:nvPr/>
        </p:nvCxnSpPr>
        <p:spPr bwMode="gray">
          <a:xfrm flipH="1">
            <a:off x="1660024" y="1856030"/>
            <a:ext cx="163472" cy="239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E5253E-DBE1-6613-8D99-3F66857DB8AE}"/>
              </a:ext>
            </a:extLst>
          </p:cNvPr>
          <p:cNvCxnSpPr>
            <a:cxnSpLocks/>
            <a:stCxn id="7" idx="5"/>
            <a:endCxn id="8" idx="1"/>
          </p:cNvCxnSpPr>
          <p:nvPr/>
        </p:nvCxnSpPr>
        <p:spPr bwMode="gray">
          <a:xfrm>
            <a:off x="1976232" y="1856030"/>
            <a:ext cx="163473" cy="239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2D34A77-803E-647E-6F2F-88A48ADD980E}"/>
                  </a:ext>
                </a:extLst>
              </p:cNvPr>
              <p:cNvSpPr/>
              <p:nvPr/>
            </p:nvSpPr>
            <p:spPr bwMode="gray">
              <a:xfrm>
                <a:off x="5482652" y="1671662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2D34A77-803E-647E-6F2F-88A48ADD98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82652" y="1671662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8518CCE-4A05-1318-F174-0E3042594521}"/>
                  </a:ext>
                </a:extLst>
              </p:cNvPr>
              <p:cNvSpPr/>
              <p:nvPr/>
            </p:nvSpPr>
            <p:spPr bwMode="gray">
              <a:xfrm>
                <a:off x="5798861" y="206355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8518CCE-4A05-1318-F174-0E30425945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98861" y="2063557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C65480E-9BF1-2740-81B1-64E49A9727F5}"/>
                  </a:ext>
                </a:extLst>
              </p:cNvPr>
              <p:cNvSpPr/>
              <p:nvPr/>
            </p:nvSpPr>
            <p:spPr bwMode="gray">
              <a:xfrm>
                <a:off x="5166444" y="2063557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C65480E-9BF1-2740-81B1-64E49A9727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66444" y="2063557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819635-3741-33FE-62C9-6312665BD589}"/>
              </a:ext>
            </a:extLst>
          </p:cNvPr>
          <p:cNvCxnSpPr>
            <a:cxnSpLocks/>
            <a:stCxn id="19" idx="3"/>
            <a:endCxn id="21" idx="7"/>
          </p:cNvCxnSpPr>
          <p:nvPr/>
        </p:nvCxnSpPr>
        <p:spPr bwMode="gray">
          <a:xfrm flipH="1">
            <a:off x="5350812" y="1856030"/>
            <a:ext cx="163472" cy="239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F642090-C217-608A-4282-40F28FF73B46}"/>
              </a:ext>
            </a:extLst>
          </p:cNvPr>
          <p:cNvCxnSpPr>
            <a:cxnSpLocks/>
            <a:stCxn id="19" idx="5"/>
            <a:endCxn id="20" idx="1"/>
          </p:cNvCxnSpPr>
          <p:nvPr/>
        </p:nvCxnSpPr>
        <p:spPr bwMode="gray">
          <a:xfrm>
            <a:off x="5667020" y="1856030"/>
            <a:ext cx="163473" cy="239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74F97B-D492-5E8A-3E78-4D78A51608CD}"/>
                  </a:ext>
                </a:extLst>
              </p:cNvPr>
              <p:cNvSpPr txBox="1"/>
              <p:nvPr/>
            </p:nvSpPr>
            <p:spPr bwMode="gray">
              <a:xfrm>
                <a:off x="333944" y="2500546"/>
                <a:ext cx="3131840" cy="406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74F97B-D492-5E8A-3E78-4D78A5160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3944" y="2500546"/>
                <a:ext cx="3131840" cy="406330"/>
              </a:xfrm>
              <a:prstGeom prst="rect">
                <a:avLst/>
              </a:prstGeom>
              <a:blipFill>
                <a:blip r:embed="rId9"/>
                <a:stretch>
                  <a:fillRect t="-90909" b="-130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F6EE49-0B09-82B6-7499-5C4D9CB69629}"/>
                  </a:ext>
                </a:extLst>
              </p:cNvPr>
              <p:cNvSpPr txBox="1"/>
              <p:nvPr/>
            </p:nvSpPr>
            <p:spPr bwMode="gray">
              <a:xfrm>
                <a:off x="4057380" y="2490215"/>
                <a:ext cx="3066544" cy="351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F6EE49-0B09-82B6-7499-5C4D9CB69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57380" y="2490215"/>
                <a:ext cx="3066544" cy="35195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062E0713-14C1-9380-64EE-D97D81985491}"/>
              </a:ext>
            </a:extLst>
          </p:cNvPr>
          <p:cNvSpPr txBox="1"/>
          <p:nvPr/>
        </p:nvSpPr>
        <p:spPr bwMode="gray">
          <a:xfrm>
            <a:off x="637610" y="2842171"/>
            <a:ext cx="252450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not independent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36A633-C158-E344-2B0E-6387EA86537C}"/>
              </a:ext>
            </a:extLst>
          </p:cNvPr>
          <p:cNvSpPr txBox="1"/>
          <p:nvPr/>
        </p:nvSpPr>
        <p:spPr bwMode="gray">
          <a:xfrm>
            <a:off x="4535732" y="2842171"/>
            <a:ext cx="20984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conditionally independent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80B14C-E6DF-7132-9F69-76827A576B56}"/>
                  </a:ext>
                </a:extLst>
              </p:cNvPr>
              <p:cNvSpPr/>
              <p:nvPr/>
            </p:nvSpPr>
            <p:spPr bwMode="gray">
              <a:xfrm>
                <a:off x="1519615" y="376425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80B14C-E6DF-7132-9F69-76827A576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19615" y="3764254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9D5B003-1B33-0BFD-D518-FC1C37E1AB0F}"/>
                  </a:ext>
                </a:extLst>
              </p:cNvPr>
              <p:cNvSpPr/>
              <p:nvPr/>
            </p:nvSpPr>
            <p:spPr bwMode="gray">
              <a:xfrm>
                <a:off x="1976232" y="376425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89D5B003-1B33-0BFD-D518-FC1C37E1A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76232" y="3764254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9003BB9-5C7C-911D-428A-3D4DBD31F9A0}"/>
                  </a:ext>
                </a:extLst>
              </p:cNvPr>
              <p:cNvSpPr/>
              <p:nvPr/>
            </p:nvSpPr>
            <p:spPr bwMode="gray">
              <a:xfrm>
                <a:off x="2432849" y="376425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9003BB9-5C7C-911D-428A-3D4DBD31F9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32849" y="3764254"/>
                <a:ext cx="216000" cy="216000"/>
              </a:xfrm>
              <a:prstGeom prst="ellipse">
                <a:avLst/>
              </a:prstGeom>
              <a:blipFill>
                <a:blip r:embed="rId13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D2B3949-663C-1DF6-331E-5A4FC473EF60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 bwMode="gray">
          <a:xfrm>
            <a:off x="2192232" y="3872254"/>
            <a:ext cx="2406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761A80-D44F-7B3B-9EF5-F4AB071FF075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 bwMode="gray">
          <a:xfrm>
            <a:off x="1735615" y="3872254"/>
            <a:ext cx="2406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4C6B60-A034-4E8B-65C6-106B4AFFF770}"/>
                  </a:ext>
                </a:extLst>
              </p:cNvPr>
              <p:cNvSpPr txBox="1"/>
              <p:nvPr/>
            </p:nvSpPr>
            <p:spPr bwMode="gray">
              <a:xfrm>
                <a:off x="284195" y="4224789"/>
                <a:ext cx="3600073" cy="406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54C6B60-A034-4E8B-65C6-106B4AFFF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4195" y="4224789"/>
                <a:ext cx="3600073" cy="406330"/>
              </a:xfrm>
              <a:prstGeom prst="rect">
                <a:avLst/>
              </a:prstGeom>
              <a:blipFill>
                <a:blip r:embed="rId14"/>
                <a:stretch>
                  <a:fillRect t="-93939" b="-130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1ED620-2154-4E69-5521-3671F12032AC}"/>
                  </a:ext>
                </a:extLst>
              </p:cNvPr>
              <p:cNvSpPr txBox="1"/>
              <p:nvPr/>
            </p:nvSpPr>
            <p:spPr bwMode="gray">
              <a:xfrm>
                <a:off x="4169283" y="4200272"/>
                <a:ext cx="3066544" cy="351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1ED620-2154-4E69-5521-3671F1203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69283" y="4200272"/>
                <a:ext cx="3066544" cy="35195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A974435D-05DF-6171-5F26-CCCC7E79B514}"/>
              </a:ext>
            </a:extLst>
          </p:cNvPr>
          <p:cNvSpPr txBox="1"/>
          <p:nvPr/>
        </p:nvSpPr>
        <p:spPr bwMode="gray">
          <a:xfrm>
            <a:off x="760973" y="4667156"/>
            <a:ext cx="252450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not independent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A98638-D243-943C-A5A5-704EFB726867}"/>
              </a:ext>
            </a:extLst>
          </p:cNvPr>
          <p:cNvSpPr txBox="1"/>
          <p:nvPr/>
        </p:nvSpPr>
        <p:spPr bwMode="gray">
          <a:xfrm>
            <a:off x="4783099" y="4659982"/>
            <a:ext cx="1831105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conditionally independent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F0CF8516-B68A-8BAE-9779-C2C60F7E6FD9}"/>
                  </a:ext>
                </a:extLst>
              </p:cNvPr>
              <p:cNvSpPr/>
              <p:nvPr/>
            </p:nvSpPr>
            <p:spPr bwMode="gray">
              <a:xfrm>
                <a:off x="5076056" y="376620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F0CF8516-B68A-8BAE-9779-C2C60F7E6F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76056" y="3766208"/>
                <a:ext cx="216000" cy="216000"/>
              </a:xfrm>
              <a:prstGeom prst="ellipse">
                <a:avLst/>
              </a:prstGeom>
              <a:blipFill>
                <a:blip r:embed="rId16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FB80536F-5078-1051-5A0F-F9C5168F9F78}"/>
                  </a:ext>
                </a:extLst>
              </p:cNvPr>
              <p:cNvSpPr/>
              <p:nvPr/>
            </p:nvSpPr>
            <p:spPr bwMode="gray">
              <a:xfrm>
                <a:off x="5532673" y="3766208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FB80536F-5078-1051-5A0F-F9C5168F9F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32673" y="3766208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BAC3F27C-0D22-4125-3FAD-EEB0EA80091C}"/>
                  </a:ext>
                </a:extLst>
              </p:cNvPr>
              <p:cNvSpPr/>
              <p:nvPr/>
            </p:nvSpPr>
            <p:spPr bwMode="gray">
              <a:xfrm>
                <a:off x="5989290" y="376620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BAC3F27C-0D22-4125-3FAD-EEB0EA8009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89290" y="3766208"/>
                <a:ext cx="216000" cy="216000"/>
              </a:xfrm>
              <a:prstGeom prst="ellipse">
                <a:avLst/>
              </a:prstGeom>
              <a:blipFill>
                <a:blip r:embed="rId18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3D74C91-BA0D-719C-0CA1-F7833399BEB9}"/>
              </a:ext>
            </a:extLst>
          </p:cNvPr>
          <p:cNvCxnSpPr>
            <a:cxnSpLocks/>
            <a:stCxn id="53" idx="6"/>
            <a:endCxn id="54" idx="2"/>
          </p:cNvCxnSpPr>
          <p:nvPr/>
        </p:nvCxnSpPr>
        <p:spPr bwMode="gray">
          <a:xfrm>
            <a:off x="5748673" y="3874208"/>
            <a:ext cx="2406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65227F-3064-FA38-08D9-7C387C6EF993}"/>
              </a:ext>
            </a:extLst>
          </p:cNvPr>
          <p:cNvCxnSpPr>
            <a:cxnSpLocks/>
            <a:stCxn id="52" idx="6"/>
            <a:endCxn id="53" idx="2"/>
          </p:cNvCxnSpPr>
          <p:nvPr/>
        </p:nvCxnSpPr>
        <p:spPr bwMode="gray">
          <a:xfrm>
            <a:off x="5292056" y="3874208"/>
            <a:ext cx="2406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4543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9" grpId="0" animBg="1"/>
      <p:bldP spid="20" grpId="0" animBg="1"/>
      <p:bldP spid="21" grpId="0" animBg="1"/>
      <p:bldP spid="25" grpId="0"/>
      <p:bldP spid="26" grpId="0"/>
      <p:bldP spid="27" grpId="0"/>
      <p:bldP spid="28" grpId="0"/>
      <p:bldP spid="29" grpId="0" animBg="1"/>
      <p:bldP spid="30" grpId="0" animBg="1"/>
      <p:bldP spid="31" grpId="0" animBg="1"/>
      <p:bldP spid="39" grpId="0"/>
      <p:bldP spid="40" grpId="0"/>
      <p:bldP spid="41" grpId="0"/>
      <p:bldP spid="42" grpId="0"/>
      <p:bldP spid="52" grpId="0" animBg="1"/>
      <p:bldP spid="53" grpId="0" animBg="1"/>
      <p:bldP spid="5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556041"/>
              </a:xfrm>
            </p:spPr>
            <p:txBody>
              <a:bodyPr/>
              <a:lstStyle/>
              <a:p>
                <a:r>
                  <a:rPr lang="en-US" b="1" dirty="0"/>
                  <a:t>Head-to-Head Node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1" dirty="0"/>
                  <a:t>)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sz="1200" dirty="0"/>
                  <a:t>It can be shown that the path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200" dirty="0"/>
                  <a:t> are only independent if </a:t>
                </a:r>
                <a:r>
                  <a:rPr lang="en-US" sz="1200" i="1" dirty="0"/>
                  <a:t>none </a:t>
                </a:r>
                <a:r>
                  <a:rPr lang="en-US" sz="1200" dirty="0"/>
                  <a:t>of the </a:t>
                </a:r>
                <a:r>
                  <a:rPr lang="en-US" sz="1200" i="1" dirty="0"/>
                  <a:t>descendant </a:t>
                </a:r>
                <a:r>
                  <a:rPr lang="en-US" sz="1200" dirty="0"/>
                  <a:t>node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/>
                  <a:t> (that can be reached in the directed graph) is observed!</a:t>
                </a:r>
              </a:p>
              <a:p>
                <a:r>
                  <a:rPr lang="en-US" b="1" dirty="0"/>
                  <a:t>Skill Example (</a:t>
                </a:r>
                <a:r>
                  <a:rPr lang="en-US" b="1" dirty="0" err="1"/>
                  <a:t>ctd</a:t>
                </a:r>
                <a:r>
                  <a:rPr lang="en-US" b="1" dirty="0"/>
                  <a:t>)</a:t>
                </a:r>
                <a:r>
                  <a:rPr lang="en-US" dirty="0"/>
                  <a:t>: Consider the performance of two players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556041"/>
              </a:xfrm>
              <a:blipFill>
                <a:blip r:embed="rId2"/>
                <a:stretch>
                  <a:fillRect t="-49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BA71FA-AD23-95A1-9C21-AA1250DF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Independence: Warm-Up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001CACE-6784-CE25-1D13-E04482FFC3E6}"/>
                  </a:ext>
                </a:extLst>
              </p:cNvPr>
              <p:cNvSpPr/>
              <p:nvPr/>
            </p:nvSpPr>
            <p:spPr bwMode="gray">
              <a:xfrm>
                <a:off x="1791865" y="1991819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001CACE-6784-CE25-1D13-E04482FFC3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91865" y="1991819"/>
                <a:ext cx="216000" cy="216000"/>
              </a:xfrm>
              <a:prstGeom prst="ellipse">
                <a:avLst/>
              </a:prstGeom>
              <a:blipFill>
                <a:blip r:embed="rId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004B6A-6E25-EC4D-2775-74DE086CC86D}"/>
                  </a:ext>
                </a:extLst>
              </p:cNvPr>
              <p:cNvSpPr/>
              <p:nvPr/>
            </p:nvSpPr>
            <p:spPr bwMode="gray">
              <a:xfrm>
                <a:off x="2108073" y="159120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6004B6A-6E25-EC4D-2775-74DE086CC8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08073" y="1591205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B35772F-7A9A-0C2A-2CC5-6FAD06ED490B}"/>
                  </a:ext>
                </a:extLst>
              </p:cNvPr>
              <p:cNvSpPr/>
              <p:nvPr/>
            </p:nvSpPr>
            <p:spPr bwMode="gray">
              <a:xfrm>
                <a:off x="1475656" y="159120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B35772F-7A9A-0C2A-2CC5-6FAD06ED49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75656" y="1591205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A90DA2-A7F4-F5B9-DAF5-4FF8EF9A77A0}"/>
              </a:ext>
            </a:extLst>
          </p:cNvPr>
          <p:cNvCxnSpPr>
            <a:cxnSpLocks/>
            <a:stCxn id="9" idx="5"/>
            <a:endCxn id="7" idx="1"/>
          </p:cNvCxnSpPr>
          <p:nvPr/>
        </p:nvCxnSpPr>
        <p:spPr bwMode="gray">
          <a:xfrm>
            <a:off x="1660024" y="1775573"/>
            <a:ext cx="163473" cy="247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E5253E-DBE1-6613-8D99-3F66857DB8AE}"/>
              </a:ext>
            </a:extLst>
          </p:cNvPr>
          <p:cNvCxnSpPr>
            <a:cxnSpLocks/>
            <a:stCxn id="8" idx="3"/>
            <a:endCxn id="7" idx="7"/>
          </p:cNvCxnSpPr>
          <p:nvPr/>
        </p:nvCxnSpPr>
        <p:spPr bwMode="gray">
          <a:xfrm flipH="1">
            <a:off x="1976233" y="1775573"/>
            <a:ext cx="163472" cy="247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74F97B-D492-5E8A-3E78-4D78A51608CD}"/>
                  </a:ext>
                </a:extLst>
              </p:cNvPr>
              <p:cNvSpPr txBox="1"/>
              <p:nvPr/>
            </p:nvSpPr>
            <p:spPr bwMode="gray">
              <a:xfrm>
                <a:off x="333944" y="2294049"/>
                <a:ext cx="3131840" cy="411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sz="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E74F97B-D492-5E8A-3E78-4D78A5160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3944" y="2294049"/>
                <a:ext cx="3131840" cy="411459"/>
              </a:xfrm>
              <a:prstGeom prst="rect">
                <a:avLst/>
              </a:prstGeom>
              <a:blipFill>
                <a:blip r:embed="rId6"/>
                <a:stretch>
                  <a:fillRect t="-91176" b="-1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F6EE49-0B09-82B6-7499-5C4D9CB69629}"/>
                  </a:ext>
                </a:extLst>
              </p:cNvPr>
              <p:cNvSpPr txBox="1"/>
              <p:nvPr/>
            </p:nvSpPr>
            <p:spPr bwMode="gray">
              <a:xfrm>
                <a:off x="4057380" y="2283718"/>
                <a:ext cx="3066544" cy="351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8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8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F6EE49-0B09-82B6-7499-5C4D9CB69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57380" y="2283718"/>
                <a:ext cx="3066544" cy="3519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062E0713-14C1-9380-64EE-D97D81985491}"/>
              </a:ext>
            </a:extLst>
          </p:cNvPr>
          <p:cNvSpPr txBox="1"/>
          <p:nvPr/>
        </p:nvSpPr>
        <p:spPr bwMode="gray">
          <a:xfrm>
            <a:off x="4378419" y="2719657"/>
            <a:ext cx="252450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not (always) conditionally independent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36A633-C158-E344-2B0E-6387EA86537C}"/>
              </a:ext>
            </a:extLst>
          </p:cNvPr>
          <p:cNvSpPr txBox="1"/>
          <p:nvPr/>
        </p:nvSpPr>
        <p:spPr bwMode="gray">
          <a:xfrm>
            <a:off x="850622" y="2642755"/>
            <a:ext cx="20984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00" dirty="0">
                <a:solidFill>
                  <a:srgbClr val="C00000"/>
                </a:solidFill>
              </a:rPr>
              <a:t>independent</a:t>
            </a:r>
            <a:endParaRPr lang="x-none" sz="10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74435D-05DF-6171-5F26-CCCC7E79B514}"/>
                  </a:ext>
                </a:extLst>
              </p:cNvPr>
              <p:cNvSpPr txBox="1"/>
              <p:nvPr/>
            </p:nvSpPr>
            <p:spPr bwMode="gray">
              <a:xfrm>
                <a:off x="665819" y="4587974"/>
                <a:ext cx="2524508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b="0" dirty="0">
                    <a:solidFill>
                      <a:srgbClr val="C00000"/>
                    </a:solidFill>
                  </a:rPr>
                  <a:t>Before match: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are independent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74435D-05DF-6171-5F26-CCCC7E79B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5819" y="4587974"/>
                <a:ext cx="2524508" cy="216024"/>
              </a:xfrm>
              <a:prstGeom prst="rect">
                <a:avLst/>
              </a:prstGeom>
              <a:blipFill>
                <a:blip r:embed="rId8"/>
                <a:stretch>
                  <a:fillRect l="-1000" t="-5556" r="-1000" b="-2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A98638-D243-943C-A5A5-704EFB726867}"/>
                  </a:ext>
                </a:extLst>
              </p:cNvPr>
              <p:cNvSpPr txBox="1"/>
              <p:nvPr/>
            </p:nvSpPr>
            <p:spPr bwMode="gray">
              <a:xfrm>
                <a:off x="4024235" y="4583634"/>
                <a:ext cx="2751801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000" dirty="0">
                    <a:solidFill>
                      <a:srgbClr val="C00000"/>
                    </a:solidFill>
                  </a:rPr>
                  <a:t>After match: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and</m:t>
                    </m:r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 </m:t>
                    </m:r>
                    <m:sSub>
                      <m:sSub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are</m:t>
                    </m:r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1000" b="1" i="0" dirty="0" smtClean="0">
                        <a:solidFill>
                          <a:srgbClr val="C00000"/>
                        </a:solidFill>
                      </a:rPr>
                      <m:t>not</m:t>
                    </m:r>
                    <m:r>
                      <m:rPr>
                        <m:nor/>
                      </m:rPr>
                      <a:rPr lang="en-US" sz="1000" b="0" i="0" dirty="0" smtClean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x-none" sz="1000" dirty="0">
                        <a:solidFill>
                          <a:srgbClr val="C00000"/>
                        </a:solidFill>
                      </a:rPr>
                      <m:t>independent</m:t>
                    </m:r>
                  </m:oMath>
                </a14:m>
                <a:endParaRPr lang="x-non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A98638-D243-943C-A5A5-704EFB726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24235" y="4583634"/>
                <a:ext cx="2751801" cy="216024"/>
              </a:xfrm>
              <a:prstGeom prst="rect">
                <a:avLst/>
              </a:prstGeom>
              <a:blipFill>
                <a:blip r:embed="rId9"/>
                <a:stretch>
                  <a:fillRect t="-5556" b="-2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19AB23C-1AD3-A2DF-0D48-08F236028B14}"/>
                  </a:ext>
                </a:extLst>
              </p:cNvPr>
              <p:cNvSpPr/>
              <p:nvPr/>
            </p:nvSpPr>
            <p:spPr bwMode="gray">
              <a:xfrm>
                <a:off x="5324465" y="1991819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19AB23C-1AD3-A2DF-0D48-08F236028B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24465" y="1991819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" name="Oval 1023">
                <a:extLst>
                  <a:ext uri="{FF2B5EF4-FFF2-40B4-BE49-F238E27FC236}">
                    <a16:creationId xmlns:a16="http://schemas.microsoft.com/office/drawing/2014/main" id="{B7ED7D5C-BAA2-E47D-633E-9232AB31343E}"/>
                  </a:ext>
                </a:extLst>
              </p:cNvPr>
              <p:cNvSpPr/>
              <p:nvPr/>
            </p:nvSpPr>
            <p:spPr bwMode="gray">
              <a:xfrm>
                <a:off x="5640673" y="159120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4" name="Oval 1023">
                <a:extLst>
                  <a:ext uri="{FF2B5EF4-FFF2-40B4-BE49-F238E27FC236}">
                    <a16:creationId xmlns:a16="http://schemas.microsoft.com/office/drawing/2014/main" id="{B7ED7D5C-BAA2-E47D-633E-9232AB3134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40673" y="1591205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Oval 1024">
                <a:extLst>
                  <a:ext uri="{FF2B5EF4-FFF2-40B4-BE49-F238E27FC236}">
                    <a16:creationId xmlns:a16="http://schemas.microsoft.com/office/drawing/2014/main" id="{AB577569-2BC1-D1FD-94D0-7934EADAC2A0}"/>
                  </a:ext>
                </a:extLst>
              </p:cNvPr>
              <p:cNvSpPr/>
              <p:nvPr/>
            </p:nvSpPr>
            <p:spPr bwMode="gray">
              <a:xfrm>
                <a:off x="5008256" y="1591205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5" name="Oval 1024">
                <a:extLst>
                  <a:ext uri="{FF2B5EF4-FFF2-40B4-BE49-F238E27FC236}">
                    <a16:creationId xmlns:a16="http://schemas.microsoft.com/office/drawing/2014/main" id="{AB577569-2BC1-D1FD-94D0-7934EADAC2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08256" y="1591205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11111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69F1FE19-025C-D570-9CFD-881C75EF936F}"/>
              </a:ext>
            </a:extLst>
          </p:cNvPr>
          <p:cNvCxnSpPr>
            <a:cxnSpLocks/>
            <a:stCxn id="1025" idx="5"/>
            <a:endCxn id="63" idx="1"/>
          </p:cNvCxnSpPr>
          <p:nvPr/>
        </p:nvCxnSpPr>
        <p:spPr bwMode="gray">
          <a:xfrm>
            <a:off x="5192624" y="1775573"/>
            <a:ext cx="163473" cy="247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4503569A-9580-C0B7-2C08-E838641F2571}"/>
              </a:ext>
            </a:extLst>
          </p:cNvPr>
          <p:cNvCxnSpPr>
            <a:cxnSpLocks/>
            <a:stCxn id="1024" idx="3"/>
            <a:endCxn id="63" idx="7"/>
          </p:cNvCxnSpPr>
          <p:nvPr/>
        </p:nvCxnSpPr>
        <p:spPr bwMode="gray">
          <a:xfrm flipH="1">
            <a:off x="5508833" y="1775573"/>
            <a:ext cx="163472" cy="247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2" name="Oval 1031">
                <a:extLst>
                  <a:ext uri="{FF2B5EF4-FFF2-40B4-BE49-F238E27FC236}">
                    <a16:creationId xmlns:a16="http://schemas.microsoft.com/office/drawing/2014/main" id="{62909F31-C68D-315A-E5A3-AD271B83A85D}"/>
                  </a:ext>
                </a:extLst>
              </p:cNvPr>
              <p:cNvSpPr/>
              <p:nvPr/>
            </p:nvSpPr>
            <p:spPr bwMode="gray">
              <a:xfrm>
                <a:off x="1531572" y="393990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2" name="Oval 1031">
                <a:extLst>
                  <a:ext uri="{FF2B5EF4-FFF2-40B4-BE49-F238E27FC236}">
                    <a16:creationId xmlns:a16="http://schemas.microsoft.com/office/drawing/2014/main" id="{62909F31-C68D-315A-E5A3-AD271B83A8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31572" y="3939902"/>
                <a:ext cx="216000" cy="216000"/>
              </a:xfrm>
              <a:prstGeom prst="ellipse">
                <a:avLst/>
              </a:prstGeom>
              <a:blipFill>
                <a:blip r:embed="rId1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3" name="Oval 1032">
                <a:extLst>
                  <a:ext uri="{FF2B5EF4-FFF2-40B4-BE49-F238E27FC236}">
                    <a16:creationId xmlns:a16="http://schemas.microsoft.com/office/drawing/2014/main" id="{1C139E3E-9E22-0D20-593E-426F39D4AE32}"/>
                  </a:ext>
                </a:extLst>
              </p:cNvPr>
              <p:cNvSpPr/>
              <p:nvPr/>
            </p:nvSpPr>
            <p:spPr bwMode="gray">
              <a:xfrm>
                <a:off x="2108073" y="3939902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3" name="Oval 1032">
                <a:extLst>
                  <a:ext uri="{FF2B5EF4-FFF2-40B4-BE49-F238E27FC236}">
                    <a16:creationId xmlns:a16="http://schemas.microsoft.com/office/drawing/2014/main" id="{1C139E3E-9E22-0D20-593E-426F39D4AE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08073" y="3939902"/>
                <a:ext cx="216000" cy="216000"/>
              </a:xfrm>
              <a:prstGeom prst="ellipse">
                <a:avLst/>
              </a:prstGeom>
              <a:blipFill>
                <a:blip r:embed="rId1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" name="Oval 1033">
                <a:extLst>
                  <a:ext uri="{FF2B5EF4-FFF2-40B4-BE49-F238E27FC236}">
                    <a16:creationId xmlns:a16="http://schemas.microsoft.com/office/drawing/2014/main" id="{CCC3D2F8-4FDC-4958-3B25-5C01EC241767}"/>
                  </a:ext>
                </a:extLst>
              </p:cNvPr>
              <p:cNvSpPr/>
              <p:nvPr/>
            </p:nvSpPr>
            <p:spPr bwMode="gray">
              <a:xfrm>
                <a:off x="1820073" y="4299958"/>
                <a:ext cx="216000" cy="216000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4" name="Oval 1033">
                <a:extLst>
                  <a:ext uri="{FF2B5EF4-FFF2-40B4-BE49-F238E27FC236}">
                    <a16:creationId xmlns:a16="http://schemas.microsoft.com/office/drawing/2014/main" id="{CCC3D2F8-4FDC-4958-3B25-5C01EC2417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20073" y="4299958"/>
                <a:ext cx="216000" cy="2160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4FF51778-A571-8032-46A4-082368C4D440}"/>
              </a:ext>
            </a:extLst>
          </p:cNvPr>
          <p:cNvCxnSpPr>
            <a:cxnSpLocks/>
            <a:stCxn id="1033" idx="4"/>
            <a:endCxn id="1034" idx="7"/>
          </p:cNvCxnSpPr>
          <p:nvPr/>
        </p:nvCxnSpPr>
        <p:spPr bwMode="gray">
          <a:xfrm flipH="1">
            <a:off x="2004441" y="4155902"/>
            <a:ext cx="211632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BAC1F905-B9D2-F3D5-6938-AE07C60BB123}"/>
              </a:ext>
            </a:extLst>
          </p:cNvPr>
          <p:cNvCxnSpPr>
            <a:cxnSpLocks/>
            <a:stCxn id="1032" idx="4"/>
            <a:endCxn id="1034" idx="1"/>
          </p:cNvCxnSpPr>
          <p:nvPr/>
        </p:nvCxnSpPr>
        <p:spPr bwMode="gray">
          <a:xfrm>
            <a:off x="1639572" y="4155902"/>
            <a:ext cx="212133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1" name="Oval 1040">
                <a:extLst>
                  <a:ext uri="{FF2B5EF4-FFF2-40B4-BE49-F238E27FC236}">
                    <a16:creationId xmlns:a16="http://schemas.microsoft.com/office/drawing/2014/main" id="{AE585AA5-1F2F-B67D-3836-7C826EAFECA1}"/>
                  </a:ext>
                </a:extLst>
              </p:cNvPr>
              <p:cNvSpPr/>
              <p:nvPr/>
            </p:nvSpPr>
            <p:spPr bwMode="gray">
              <a:xfrm>
                <a:off x="5003635" y="393991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1" name="Oval 1040">
                <a:extLst>
                  <a:ext uri="{FF2B5EF4-FFF2-40B4-BE49-F238E27FC236}">
                    <a16:creationId xmlns:a16="http://schemas.microsoft.com/office/drawing/2014/main" id="{AE585AA5-1F2F-B67D-3836-7C826EAFE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03635" y="3939910"/>
                <a:ext cx="216000" cy="216000"/>
              </a:xfrm>
              <a:prstGeom prst="ellipse">
                <a:avLst/>
              </a:prstGeom>
              <a:blipFill>
                <a:blip r:embed="rId1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2" name="Oval 1041">
                <a:extLst>
                  <a:ext uri="{FF2B5EF4-FFF2-40B4-BE49-F238E27FC236}">
                    <a16:creationId xmlns:a16="http://schemas.microsoft.com/office/drawing/2014/main" id="{654B74F3-4D6E-6375-9FEC-D25764C09097}"/>
                  </a:ext>
                </a:extLst>
              </p:cNvPr>
              <p:cNvSpPr/>
              <p:nvPr/>
            </p:nvSpPr>
            <p:spPr bwMode="gray">
              <a:xfrm>
                <a:off x="5580136" y="393991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2" name="Oval 1041">
                <a:extLst>
                  <a:ext uri="{FF2B5EF4-FFF2-40B4-BE49-F238E27FC236}">
                    <a16:creationId xmlns:a16="http://schemas.microsoft.com/office/drawing/2014/main" id="{654B74F3-4D6E-6375-9FEC-D25764C090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0136" y="3939910"/>
                <a:ext cx="216000" cy="216000"/>
              </a:xfrm>
              <a:prstGeom prst="ellipse">
                <a:avLst/>
              </a:prstGeom>
              <a:blipFill>
                <a:blip r:embed="rId1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3" name="Oval 1042">
                <a:extLst>
                  <a:ext uri="{FF2B5EF4-FFF2-40B4-BE49-F238E27FC236}">
                    <a16:creationId xmlns:a16="http://schemas.microsoft.com/office/drawing/2014/main" id="{7204CD99-B7BE-7FD5-9A78-F4B2800A8142}"/>
                  </a:ext>
                </a:extLst>
              </p:cNvPr>
              <p:cNvSpPr/>
              <p:nvPr/>
            </p:nvSpPr>
            <p:spPr bwMode="gray">
              <a:xfrm>
                <a:off x="5292136" y="4299966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3" name="Oval 1042">
                <a:extLst>
                  <a:ext uri="{FF2B5EF4-FFF2-40B4-BE49-F238E27FC236}">
                    <a16:creationId xmlns:a16="http://schemas.microsoft.com/office/drawing/2014/main" id="{7204CD99-B7BE-7FD5-9A78-F4B2800A81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92136" y="4299966"/>
                <a:ext cx="216000" cy="21600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23EAD48C-646F-08BF-13E9-E7842CA7881C}"/>
              </a:ext>
            </a:extLst>
          </p:cNvPr>
          <p:cNvCxnSpPr>
            <a:cxnSpLocks/>
            <a:stCxn id="1042" idx="4"/>
            <a:endCxn id="1043" idx="7"/>
          </p:cNvCxnSpPr>
          <p:nvPr/>
        </p:nvCxnSpPr>
        <p:spPr bwMode="gray">
          <a:xfrm flipH="1">
            <a:off x="5476504" y="4155910"/>
            <a:ext cx="211632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7CE4E5E8-933A-1C3F-CCE3-C22B8D80AF8D}"/>
              </a:ext>
            </a:extLst>
          </p:cNvPr>
          <p:cNvCxnSpPr>
            <a:cxnSpLocks/>
            <a:stCxn id="1041" idx="4"/>
            <a:endCxn id="1043" idx="1"/>
          </p:cNvCxnSpPr>
          <p:nvPr/>
        </p:nvCxnSpPr>
        <p:spPr bwMode="gray">
          <a:xfrm>
            <a:off x="5111635" y="4155910"/>
            <a:ext cx="212133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8880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5" grpId="0"/>
      <p:bldP spid="26" grpId="0"/>
      <p:bldP spid="27" grpId="0"/>
      <p:bldP spid="28" grpId="0"/>
      <p:bldP spid="41" grpId="0"/>
      <p:bldP spid="42" grpId="0"/>
      <p:bldP spid="63" grpId="0" animBg="1"/>
      <p:bldP spid="1024" grpId="0" animBg="1"/>
      <p:bldP spid="1025" grpId="0" animBg="1"/>
      <p:bldP spid="1032" grpId="0" animBg="1"/>
      <p:bldP spid="1033" grpId="0" animBg="1"/>
      <p:bldP spid="1034" grpId="0" animBg="1"/>
      <p:bldP spid="1041" grpId="0" animBg="1"/>
      <p:bldP spid="1042" grpId="0" animBg="1"/>
      <p:bldP spid="104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5" y="1239837"/>
                <a:ext cx="7407497" cy="2196009"/>
              </a:xfrm>
            </p:spPr>
            <p:txBody>
              <a:bodyPr/>
              <a:lstStyle/>
              <a:p>
                <a:r>
                  <a:rPr lang="en-US" b="1" dirty="0"/>
                  <a:t>Blocked Node</a:t>
                </a:r>
                <a:r>
                  <a:rPr lang="en-US" dirty="0"/>
                  <a:t>. </a:t>
                </a:r>
                <a:r>
                  <a:rPr lang="en-US" i="1" dirty="0"/>
                  <a:t>A node in a Bayesian network is said to be blocked if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i="1" dirty="0"/>
                  <a:t>It’s a head-to-tail or tail-to-tail node and the node is observed.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i="1" dirty="0"/>
                  <a:t>It’s a head-to-head node and neither the node nor any of its descendants are observed.</a:t>
                </a:r>
              </a:p>
              <a:p>
                <a:r>
                  <a:rPr lang="en-US" b="1" dirty="0"/>
                  <a:t>d-separation</a:t>
                </a:r>
                <a:r>
                  <a:rPr lang="en-US" dirty="0"/>
                  <a:t>. </a:t>
                </a:r>
                <a:r>
                  <a:rPr lang="en-US" i="1" dirty="0"/>
                  <a:t>Given a Bayesian network and a subset of observed variables, two non-observed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i="1" dirty="0"/>
                  <a:t> are </a:t>
                </a:r>
                <a:r>
                  <a:rPr lang="en-US" dirty="0"/>
                  <a:t>conditionally independent </a:t>
                </a:r>
                <a:r>
                  <a:rPr lang="en-US" i="1" dirty="0"/>
                  <a:t>(that is, d-separated) if every undirected path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i="1" dirty="0"/>
                  <a:t> contains at least one blocked node.</a:t>
                </a:r>
              </a:p>
              <a:p>
                <a:r>
                  <a:rPr lang="en-US" b="1" dirty="0"/>
                  <a:t>Examples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455536F-C2E6-CA7D-6D41-71E9A80A36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5" y="1239837"/>
                <a:ext cx="7407497" cy="2196009"/>
              </a:xfrm>
              <a:blipFill>
                <a:blip r:embed="rId2"/>
                <a:stretch>
                  <a:fillRect t="-575" b="-5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BA71FA-AD23-95A1-9C21-AA1250DF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Independence: d-separation</a:t>
            </a:r>
          </a:p>
        </p:txBody>
      </p:sp>
      <p:pic>
        <p:nvPicPr>
          <p:cNvPr id="4" name="Picture 4" descr="Judea Pearl">
            <a:extLst>
              <a:ext uri="{FF2B5EF4-FFF2-40B4-BE49-F238E27FC236}">
                <a16:creationId xmlns:a16="http://schemas.microsoft.com/office/drawing/2014/main" id="{2228D9CC-590F-D524-A235-E1D7E4DBB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40553" y="1203598"/>
            <a:ext cx="635903" cy="903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3F8C19-FF19-B1A2-6676-B3FA06CAAA5D}"/>
              </a:ext>
            </a:extLst>
          </p:cNvPr>
          <p:cNvSpPr txBox="1"/>
          <p:nvPr/>
        </p:nvSpPr>
        <p:spPr bwMode="gray">
          <a:xfrm>
            <a:off x="7906617" y="2106852"/>
            <a:ext cx="910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1" dirty="0">
                <a:solidFill>
                  <a:srgbClr val="202122"/>
                </a:solidFill>
                <a:latin typeface="Arial" panose="020B0604020202020204" pitchFamily="34" charset="0"/>
              </a:rPr>
              <a:t>Judea Pearl</a:t>
            </a:r>
            <a:b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sz="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(1936– )</a:t>
            </a:r>
            <a:endParaRPr 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FF295C1-5A00-C6EE-DD71-EA84BB796A3D}"/>
                  </a:ext>
                </a:extLst>
              </p:cNvPr>
              <p:cNvSpPr/>
              <p:nvPr/>
            </p:nvSpPr>
            <p:spPr bwMode="gray">
              <a:xfrm>
                <a:off x="2616452" y="336591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FF295C1-5A00-C6EE-DD71-EA84BB796A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16452" y="3365918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F7D8576-93E0-7F7F-FD94-D6C63EAFE9C4}"/>
                  </a:ext>
                </a:extLst>
              </p:cNvPr>
              <p:cNvSpPr/>
              <p:nvPr/>
            </p:nvSpPr>
            <p:spPr bwMode="gray">
              <a:xfrm>
                <a:off x="1954814" y="336591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EF7D8576-93E0-7F7F-FD94-D6C63EAFE9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54814" y="3365918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A9770C9-F806-A314-E0B9-BBDD9D1E0F41}"/>
                  </a:ext>
                </a:extLst>
              </p:cNvPr>
              <p:cNvSpPr/>
              <p:nvPr/>
            </p:nvSpPr>
            <p:spPr bwMode="gray">
              <a:xfrm>
                <a:off x="2285633" y="4230014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A9770C9-F806-A314-E0B9-BBDD9D1E0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85633" y="4230014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5C877E8-9D10-3F47-E1EA-8F943F7CED97}"/>
                  </a:ext>
                </a:extLst>
              </p:cNvPr>
              <p:cNvSpPr/>
              <p:nvPr/>
            </p:nvSpPr>
            <p:spPr bwMode="gray">
              <a:xfrm>
                <a:off x="2285633" y="379796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5C877E8-9D10-3F47-E1EA-8F943F7CED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285633" y="3797966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076D729-E793-2253-BE15-8D4B3D19CD85}"/>
                  </a:ext>
                </a:extLst>
              </p:cNvPr>
              <p:cNvSpPr/>
              <p:nvPr/>
            </p:nvSpPr>
            <p:spPr bwMode="gray">
              <a:xfrm>
                <a:off x="2947271" y="379796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076D729-E793-2253-BE15-8D4B3D19CD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47271" y="3797966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 l="-10526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5C4F85-772D-5BDF-0434-63458201D933}"/>
              </a:ext>
            </a:extLst>
          </p:cNvPr>
          <p:cNvCxnSpPr>
            <a:cxnSpLocks/>
            <a:stCxn id="8" idx="5"/>
            <a:endCxn id="6" idx="1"/>
          </p:cNvCxnSpPr>
          <p:nvPr/>
        </p:nvCxnSpPr>
        <p:spPr bwMode="gray">
          <a:xfrm>
            <a:off x="2139182" y="3550286"/>
            <a:ext cx="178083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704BAE-DDE4-4D85-E5D6-F63F3D5F1787}"/>
              </a:ext>
            </a:extLst>
          </p:cNvPr>
          <p:cNvCxnSpPr>
            <a:cxnSpLocks/>
            <a:stCxn id="7" idx="3"/>
            <a:endCxn id="6" idx="7"/>
          </p:cNvCxnSpPr>
          <p:nvPr/>
        </p:nvCxnSpPr>
        <p:spPr bwMode="gray">
          <a:xfrm flipH="1">
            <a:off x="2470001" y="3550286"/>
            <a:ext cx="178083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DFF825-7E01-85FF-3A39-E4D71D2B3B76}"/>
              </a:ext>
            </a:extLst>
          </p:cNvPr>
          <p:cNvCxnSpPr>
            <a:cxnSpLocks/>
            <a:stCxn id="7" idx="5"/>
            <a:endCxn id="10" idx="1"/>
          </p:cNvCxnSpPr>
          <p:nvPr/>
        </p:nvCxnSpPr>
        <p:spPr bwMode="gray">
          <a:xfrm>
            <a:off x="2800820" y="3550286"/>
            <a:ext cx="178083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F97AA9-6787-D2D2-F6C6-76C4A83C5248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 bwMode="gray">
          <a:xfrm>
            <a:off x="2393633" y="4013966"/>
            <a:ext cx="0" cy="216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7602C90-9C81-0AC7-B781-BBFD912C2EC1}"/>
                  </a:ext>
                </a:extLst>
              </p:cNvPr>
              <p:cNvSpPr/>
              <p:nvPr/>
            </p:nvSpPr>
            <p:spPr bwMode="gray">
              <a:xfrm>
                <a:off x="5614002" y="3365918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7602C90-9C81-0AC7-B781-BBFD912C2E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14002" y="3365918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3580860-1328-05ED-40E3-089F6A97A8E9}"/>
                  </a:ext>
                </a:extLst>
              </p:cNvPr>
              <p:cNvSpPr/>
              <p:nvPr/>
            </p:nvSpPr>
            <p:spPr bwMode="gray">
              <a:xfrm>
                <a:off x="4952364" y="336591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3580860-1328-05ED-40E3-089F6A97A8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952364" y="3365918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AB6D83B-6940-0ED5-CF2C-B33F1D8B7ECD}"/>
                  </a:ext>
                </a:extLst>
              </p:cNvPr>
              <p:cNvSpPr/>
              <p:nvPr/>
            </p:nvSpPr>
            <p:spPr bwMode="gray">
              <a:xfrm>
                <a:off x="5283183" y="423001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AB6D83B-6940-0ED5-CF2C-B33F1D8B7E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83183" y="4230014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631A274-9D06-B479-DD78-E28B72B32053}"/>
                  </a:ext>
                </a:extLst>
              </p:cNvPr>
              <p:cNvSpPr/>
              <p:nvPr/>
            </p:nvSpPr>
            <p:spPr bwMode="gray">
              <a:xfrm>
                <a:off x="5283183" y="379796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631A274-9D06-B479-DD78-E28B72B320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83183" y="3797966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306BFBB-3274-415F-52EA-80321365D5A0}"/>
                  </a:ext>
                </a:extLst>
              </p:cNvPr>
              <p:cNvSpPr/>
              <p:nvPr/>
            </p:nvSpPr>
            <p:spPr bwMode="gray">
              <a:xfrm>
                <a:off x="5944821" y="379796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306BFBB-3274-415F-52EA-80321365D5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44821" y="3797966"/>
                <a:ext cx="216000" cy="216000"/>
              </a:xfrm>
              <a:prstGeom prst="ellipse">
                <a:avLst/>
              </a:prstGeom>
              <a:blipFill>
                <a:blip r:embed="rId13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9448E1A-199A-584C-2CFC-759F4ACC4F7A}"/>
              </a:ext>
            </a:extLst>
          </p:cNvPr>
          <p:cNvCxnSpPr>
            <a:cxnSpLocks/>
            <a:stCxn id="27" idx="5"/>
            <a:endCxn id="29" idx="1"/>
          </p:cNvCxnSpPr>
          <p:nvPr/>
        </p:nvCxnSpPr>
        <p:spPr bwMode="gray">
          <a:xfrm>
            <a:off x="5136732" y="3550286"/>
            <a:ext cx="178083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923A2C9-8D86-5AC2-8684-7D112184F20C}"/>
              </a:ext>
            </a:extLst>
          </p:cNvPr>
          <p:cNvCxnSpPr>
            <a:cxnSpLocks/>
            <a:stCxn id="26" idx="3"/>
            <a:endCxn id="29" idx="7"/>
          </p:cNvCxnSpPr>
          <p:nvPr/>
        </p:nvCxnSpPr>
        <p:spPr bwMode="gray">
          <a:xfrm flipH="1">
            <a:off x="5467551" y="3550286"/>
            <a:ext cx="178083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89DECC-12B4-ADD5-FFE4-CB53A0FCADB2}"/>
              </a:ext>
            </a:extLst>
          </p:cNvPr>
          <p:cNvCxnSpPr>
            <a:cxnSpLocks/>
            <a:stCxn id="26" idx="5"/>
            <a:endCxn id="30" idx="1"/>
          </p:cNvCxnSpPr>
          <p:nvPr/>
        </p:nvCxnSpPr>
        <p:spPr bwMode="gray">
          <a:xfrm>
            <a:off x="5798370" y="3550286"/>
            <a:ext cx="178083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A3FC10A-E3FD-7125-6AF0-277692062EC6}"/>
              </a:ext>
            </a:extLst>
          </p:cNvPr>
          <p:cNvCxnSpPr>
            <a:cxnSpLocks/>
            <a:stCxn id="29" idx="4"/>
            <a:endCxn id="28" idx="0"/>
          </p:cNvCxnSpPr>
          <p:nvPr/>
        </p:nvCxnSpPr>
        <p:spPr bwMode="gray">
          <a:xfrm>
            <a:off x="5391183" y="4013966"/>
            <a:ext cx="0" cy="216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BC21AC7-74C7-DA5D-6393-536563AD3465}"/>
              </a:ext>
            </a:extLst>
          </p:cNvPr>
          <p:cNvCxnSpPr>
            <a:endCxn id="8" idx="7"/>
          </p:cNvCxnSpPr>
          <p:nvPr/>
        </p:nvCxnSpPr>
        <p:spPr bwMode="gray">
          <a:xfrm flipH="1">
            <a:off x="2139182" y="3293910"/>
            <a:ext cx="146451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1221DD-CF6C-A003-C7A7-A90A4323672F}"/>
              </a:ext>
            </a:extLst>
          </p:cNvPr>
          <p:cNvCxnSpPr>
            <a:cxnSpLocks/>
            <a:endCxn id="10" idx="7"/>
          </p:cNvCxnSpPr>
          <p:nvPr/>
        </p:nvCxnSpPr>
        <p:spPr bwMode="gray">
          <a:xfrm flipH="1">
            <a:off x="3131639" y="3725958"/>
            <a:ext cx="146451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6F6D774-4065-6640-BBA1-6BBF8AEC2C57}"/>
              </a:ext>
            </a:extLst>
          </p:cNvPr>
          <p:cNvCxnSpPr>
            <a:cxnSpLocks/>
            <a:endCxn id="27" idx="7"/>
          </p:cNvCxnSpPr>
          <p:nvPr/>
        </p:nvCxnSpPr>
        <p:spPr bwMode="gray">
          <a:xfrm flipH="1">
            <a:off x="5136732" y="3291830"/>
            <a:ext cx="134887" cy="10572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34C7088-2103-A177-3B41-4C11C144F26D}"/>
              </a:ext>
            </a:extLst>
          </p:cNvPr>
          <p:cNvCxnSpPr>
            <a:cxnSpLocks/>
            <a:endCxn id="30" idx="7"/>
          </p:cNvCxnSpPr>
          <p:nvPr/>
        </p:nvCxnSpPr>
        <p:spPr bwMode="gray">
          <a:xfrm flipH="1">
            <a:off x="6129189" y="3725958"/>
            <a:ext cx="128602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4287046-D697-F217-56CB-38A3B6EF9935}"/>
                  </a:ext>
                </a:extLst>
              </p:cNvPr>
              <p:cNvSpPr txBox="1"/>
              <p:nvPr/>
            </p:nvSpPr>
            <p:spPr bwMode="gray">
              <a:xfrm>
                <a:off x="1345346" y="4590054"/>
                <a:ext cx="2524508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are not independent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4287046-D697-F217-56CB-38A3B6EF9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45346" y="4590054"/>
                <a:ext cx="2524508" cy="216024"/>
              </a:xfrm>
              <a:prstGeom prst="rect">
                <a:avLst/>
              </a:prstGeom>
              <a:blipFill>
                <a:blip r:embed="rId14"/>
                <a:stretch>
                  <a:fillRect t="-5556" b="-2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B42E1BB-2EE5-1D35-2880-86351997B096}"/>
                  </a:ext>
                </a:extLst>
              </p:cNvPr>
              <p:cNvSpPr txBox="1"/>
              <p:nvPr/>
            </p:nvSpPr>
            <p:spPr bwMode="gray">
              <a:xfrm>
                <a:off x="4351748" y="4554050"/>
                <a:ext cx="2524508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are independent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B42E1BB-2EE5-1D35-2880-86351997B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51748" y="4554050"/>
                <a:ext cx="2524508" cy="216024"/>
              </a:xfrm>
              <a:prstGeom prst="rect">
                <a:avLst/>
              </a:prstGeom>
              <a:blipFill>
                <a:blip r:embed="rId15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6558D5C-C77A-ABC4-02EF-4903C57020ED}"/>
                  </a:ext>
                </a:extLst>
              </p:cNvPr>
              <p:cNvSpPr/>
              <p:nvPr/>
            </p:nvSpPr>
            <p:spPr bwMode="gray">
              <a:xfrm>
                <a:off x="2609633" y="4230014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6558D5C-C77A-ABC4-02EF-4903C57020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09633" y="4230014"/>
                <a:ext cx="216000" cy="216000"/>
              </a:xfrm>
              <a:prstGeom prst="ellipse">
                <a:avLst/>
              </a:prstGeom>
              <a:blipFill>
                <a:blip r:embed="rId16"/>
                <a:stretch>
                  <a:fillRect l="-5000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FDB7AF-9A4C-9171-16BC-53F567DA5BEA}"/>
              </a:ext>
            </a:extLst>
          </p:cNvPr>
          <p:cNvCxnSpPr>
            <a:cxnSpLocks/>
            <a:stCxn id="6" idx="5"/>
            <a:endCxn id="11" idx="1"/>
          </p:cNvCxnSpPr>
          <p:nvPr/>
        </p:nvCxnSpPr>
        <p:spPr bwMode="gray">
          <a:xfrm>
            <a:off x="2470001" y="3982334"/>
            <a:ext cx="171264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E6E235-59B3-7C15-51E9-5DB562A706F5}"/>
              </a:ext>
            </a:extLst>
          </p:cNvPr>
          <p:cNvCxnSpPr>
            <a:cxnSpLocks/>
            <a:stCxn id="10" idx="3"/>
            <a:endCxn id="11" idx="7"/>
          </p:cNvCxnSpPr>
          <p:nvPr/>
        </p:nvCxnSpPr>
        <p:spPr bwMode="gray">
          <a:xfrm flipH="1">
            <a:off x="2794001" y="3982334"/>
            <a:ext cx="184902" cy="2793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6156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  <p:bldP spid="9" grpId="0" animBg="1"/>
      <p:bldP spid="6" grpId="0" animBg="1"/>
      <p:bldP spid="10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45" grpId="0"/>
      <p:bldP spid="46" grpId="0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55536F-C2E6-CA7D-6D41-71E9A80A36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3564161"/>
          </a:xfrm>
        </p:spPr>
        <p:txBody>
          <a:bodyPr/>
          <a:lstStyle/>
          <a:p>
            <a:r>
              <a:rPr lang="en-US" b="1" dirty="0"/>
              <a:t>Skill Example (</a:t>
            </a:r>
            <a:r>
              <a:rPr lang="en-US" b="1" dirty="0" err="1"/>
              <a:t>ctd</a:t>
            </a:r>
            <a:r>
              <a:rPr lang="en-US" b="1" dirty="0"/>
              <a:t>)</a:t>
            </a:r>
            <a:r>
              <a:rPr lang="en-US" dirty="0"/>
              <a:t>: Consider the skills of two players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sz="1200" dirty="0"/>
              <a:t>Intuitive because </a:t>
            </a:r>
          </a:p>
          <a:p>
            <a:pPr lvl="2"/>
            <a:r>
              <a:rPr lang="en-US" sz="1200" dirty="0"/>
              <a:t>Before the match there is no information that “links” the skill of two players</a:t>
            </a:r>
          </a:p>
          <a:p>
            <a:pPr lvl="2"/>
            <a:r>
              <a:rPr lang="en-US" sz="1200" dirty="0"/>
              <a:t>After the match, if the skill of the winning player goes down (e.g., due to a loss in </a:t>
            </a:r>
            <a:r>
              <a:rPr lang="en-US" sz="1200"/>
              <a:t>a subsequent match) </a:t>
            </a:r>
            <a:r>
              <a:rPr lang="en-US" sz="1200" dirty="0"/>
              <a:t>then the skill of the opponent also needs to go down (or otherwise the observed match outcome would not have been possible)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BA71FA-AD23-95A1-9C21-AA1250DFC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Independence: Skill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74435D-05DF-6171-5F26-CCCC7E79B514}"/>
                  </a:ext>
                </a:extLst>
              </p:cNvPr>
              <p:cNvSpPr txBox="1"/>
              <p:nvPr/>
            </p:nvSpPr>
            <p:spPr bwMode="gray">
              <a:xfrm>
                <a:off x="665819" y="3122730"/>
                <a:ext cx="2524508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x-none" sz="1000" dirty="0">
                    <a:solidFill>
                      <a:srgbClr val="C00000"/>
                    </a:solidFill>
                  </a:rPr>
                  <a:t> are independent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74435D-05DF-6171-5F26-CCCC7E79B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5819" y="3122730"/>
                <a:ext cx="2524508" cy="216024"/>
              </a:xfrm>
              <a:prstGeom prst="rect">
                <a:avLst/>
              </a:prstGeom>
              <a:blipFill>
                <a:blip r:embed="rId2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A98638-D243-943C-A5A5-704EFB726867}"/>
                  </a:ext>
                </a:extLst>
              </p:cNvPr>
              <p:cNvSpPr txBox="1"/>
              <p:nvPr/>
            </p:nvSpPr>
            <p:spPr bwMode="gray">
              <a:xfrm>
                <a:off x="4024235" y="3118390"/>
                <a:ext cx="2751801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and</m:t>
                      </m:r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 </m:t>
                      </m:r>
                      <m:sSub>
                        <m:sSubPr>
                          <m:ctrlP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are</m:t>
                      </m:r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1000" b="1" i="0" dirty="0" smtClean="0">
                          <a:solidFill>
                            <a:srgbClr val="C00000"/>
                          </a:solidFill>
                        </a:rPr>
                        <m:t>not</m:t>
                      </m:r>
                      <m:r>
                        <m:rPr>
                          <m:nor/>
                        </m:rPr>
                        <a:rPr lang="en-US" sz="1000" b="0" i="0" dirty="0" smtClean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x-none" sz="1000" dirty="0">
                          <a:solidFill>
                            <a:srgbClr val="C00000"/>
                          </a:solidFill>
                        </a:rPr>
                        <m:t>independent</m:t>
                      </m:r>
                    </m:oMath>
                  </m:oMathPara>
                </a14:m>
                <a:endParaRPr lang="x-non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1A98638-D243-943C-A5A5-704EFB726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24235" y="3118390"/>
                <a:ext cx="2751801" cy="216024"/>
              </a:xfrm>
              <a:prstGeom prst="rect">
                <a:avLst/>
              </a:prstGeom>
              <a:blipFill>
                <a:blip r:embed="rId3"/>
                <a:stretch>
                  <a:fillRect t="-22222" b="-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0" name="Oval 1029">
                <a:extLst>
                  <a:ext uri="{FF2B5EF4-FFF2-40B4-BE49-F238E27FC236}">
                    <a16:creationId xmlns:a16="http://schemas.microsoft.com/office/drawing/2014/main" id="{FA8234D9-04D5-67DC-CD32-BED8C7A23138}"/>
                  </a:ext>
                </a:extLst>
              </p:cNvPr>
              <p:cNvSpPr/>
              <p:nvPr/>
            </p:nvSpPr>
            <p:spPr bwMode="gray">
              <a:xfrm>
                <a:off x="1531572" y="211461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0" name="Oval 1029">
                <a:extLst>
                  <a:ext uri="{FF2B5EF4-FFF2-40B4-BE49-F238E27FC236}">
                    <a16:creationId xmlns:a16="http://schemas.microsoft.com/office/drawing/2014/main" id="{FA8234D9-04D5-67DC-CD32-BED8C7A231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31572" y="2114610"/>
                <a:ext cx="216000" cy="216000"/>
              </a:xfrm>
              <a:prstGeom prst="ellipse">
                <a:avLst/>
              </a:prstGeom>
              <a:blipFill>
                <a:blip r:embed="rId4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1" name="Oval 1030">
                <a:extLst>
                  <a:ext uri="{FF2B5EF4-FFF2-40B4-BE49-F238E27FC236}">
                    <a16:creationId xmlns:a16="http://schemas.microsoft.com/office/drawing/2014/main" id="{664440AD-924D-5500-8C8B-9E179B9771A6}"/>
                  </a:ext>
                </a:extLst>
              </p:cNvPr>
              <p:cNvSpPr/>
              <p:nvPr/>
            </p:nvSpPr>
            <p:spPr bwMode="gray">
              <a:xfrm>
                <a:off x="2108073" y="2114610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1" name="Oval 1030">
                <a:extLst>
                  <a:ext uri="{FF2B5EF4-FFF2-40B4-BE49-F238E27FC236}">
                    <a16:creationId xmlns:a16="http://schemas.microsoft.com/office/drawing/2014/main" id="{664440AD-924D-5500-8C8B-9E179B9771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08073" y="2114610"/>
                <a:ext cx="216000" cy="216000"/>
              </a:xfrm>
              <a:prstGeom prst="ellipse">
                <a:avLst/>
              </a:prstGeom>
              <a:blipFill>
                <a:blip r:embed="rId5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2" name="Oval 1031">
                <a:extLst>
                  <a:ext uri="{FF2B5EF4-FFF2-40B4-BE49-F238E27FC236}">
                    <a16:creationId xmlns:a16="http://schemas.microsoft.com/office/drawing/2014/main" id="{62909F31-C68D-315A-E5A3-AD271B83A85D}"/>
                  </a:ext>
                </a:extLst>
              </p:cNvPr>
              <p:cNvSpPr/>
              <p:nvPr/>
            </p:nvSpPr>
            <p:spPr bwMode="gray">
              <a:xfrm>
                <a:off x="1531572" y="247465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2" name="Oval 1031">
                <a:extLst>
                  <a:ext uri="{FF2B5EF4-FFF2-40B4-BE49-F238E27FC236}">
                    <a16:creationId xmlns:a16="http://schemas.microsoft.com/office/drawing/2014/main" id="{62909F31-C68D-315A-E5A3-AD271B83A8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31572" y="2474658"/>
                <a:ext cx="216000" cy="216000"/>
              </a:xfrm>
              <a:prstGeom prst="ellipse">
                <a:avLst/>
              </a:prstGeom>
              <a:blipFill>
                <a:blip r:embed="rId6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3" name="Oval 1032">
                <a:extLst>
                  <a:ext uri="{FF2B5EF4-FFF2-40B4-BE49-F238E27FC236}">
                    <a16:creationId xmlns:a16="http://schemas.microsoft.com/office/drawing/2014/main" id="{1C139E3E-9E22-0D20-593E-426F39D4AE32}"/>
                  </a:ext>
                </a:extLst>
              </p:cNvPr>
              <p:cNvSpPr/>
              <p:nvPr/>
            </p:nvSpPr>
            <p:spPr bwMode="gray">
              <a:xfrm>
                <a:off x="2108073" y="247465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3" name="Oval 1032">
                <a:extLst>
                  <a:ext uri="{FF2B5EF4-FFF2-40B4-BE49-F238E27FC236}">
                    <a16:creationId xmlns:a16="http://schemas.microsoft.com/office/drawing/2014/main" id="{1C139E3E-9E22-0D20-593E-426F39D4AE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108073" y="2474658"/>
                <a:ext cx="216000" cy="216000"/>
              </a:xfrm>
              <a:prstGeom prst="ellipse">
                <a:avLst/>
              </a:prstGeom>
              <a:blipFill>
                <a:blip r:embed="rId7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" name="Oval 1033">
                <a:extLst>
                  <a:ext uri="{FF2B5EF4-FFF2-40B4-BE49-F238E27FC236}">
                    <a16:creationId xmlns:a16="http://schemas.microsoft.com/office/drawing/2014/main" id="{CCC3D2F8-4FDC-4958-3B25-5C01EC241767}"/>
                  </a:ext>
                </a:extLst>
              </p:cNvPr>
              <p:cNvSpPr/>
              <p:nvPr/>
            </p:nvSpPr>
            <p:spPr bwMode="gray">
              <a:xfrm>
                <a:off x="1820073" y="2834714"/>
                <a:ext cx="216000" cy="216000"/>
              </a:xfrm>
              <a:prstGeom prst="ellipse">
                <a:avLst/>
              </a:prstGeom>
              <a:noFill/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4" name="Oval 1033">
                <a:extLst>
                  <a:ext uri="{FF2B5EF4-FFF2-40B4-BE49-F238E27FC236}">
                    <a16:creationId xmlns:a16="http://schemas.microsoft.com/office/drawing/2014/main" id="{CCC3D2F8-4FDC-4958-3B25-5C01EC2417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20073" y="2834714"/>
                <a:ext cx="216000" cy="2160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6AF4CFF1-A2E0-A604-5FEE-74A904CB4611}"/>
              </a:ext>
            </a:extLst>
          </p:cNvPr>
          <p:cNvCxnSpPr>
            <a:stCxn id="1030" idx="4"/>
            <a:endCxn id="1032" idx="0"/>
          </p:cNvCxnSpPr>
          <p:nvPr/>
        </p:nvCxnSpPr>
        <p:spPr bwMode="gray">
          <a:xfrm>
            <a:off x="1639572" y="2330610"/>
            <a:ext cx="0" cy="144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715F4054-86ED-EAE9-021E-88C2FFD7A64F}"/>
              </a:ext>
            </a:extLst>
          </p:cNvPr>
          <p:cNvCxnSpPr>
            <a:cxnSpLocks/>
            <a:stCxn id="1031" idx="4"/>
            <a:endCxn id="1033" idx="0"/>
          </p:cNvCxnSpPr>
          <p:nvPr/>
        </p:nvCxnSpPr>
        <p:spPr bwMode="gray">
          <a:xfrm>
            <a:off x="2216073" y="2330610"/>
            <a:ext cx="0" cy="144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4FF51778-A571-8032-46A4-082368C4D440}"/>
              </a:ext>
            </a:extLst>
          </p:cNvPr>
          <p:cNvCxnSpPr>
            <a:cxnSpLocks/>
            <a:stCxn id="1033" idx="4"/>
            <a:endCxn id="1034" idx="7"/>
          </p:cNvCxnSpPr>
          <p:nvPr/>
        </p:nvCxnSpPr>
        <p:spPr bwMode="gray">
          <a:xfrm flipH="1">
            <a:off x="2004441" y="2690658"/>
            <a:ext cx="211632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BAC1F905-B9D2-F3D5-6938-AE07C60BB123}"/>
              </a:ext>
            </a:extLst>
          </p:cNvPr>
          <p:cNvCxnSpPr>
            <a:cxnSpLocks/>
            <a:stCxn id="1032" idx="4"/>
            <a:endCxn id="1034" idx="1"/>
          </p:cNvCxnSpPr>
          <p:nvPr/>
        </p:nvCxnSpPr>
        <p:spPr bwMode="gray">
          <a:xfrm>
            <a:off x="1639572" y="2690658"/>
            <a:ext cx="212133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9" name="Oval 1038">
                <a:extLst>
                  <a:ext uri="{FF2B5EF4-FFF2-40B4-BE49-F238E27FC236}">
                    <a16:creationId xmlns:a16="http://schemas.microsoft.com/office/drawing/2014/main" id="{8CC72C2B-AC49-9AEC-C648-380FFD96EC39}"/>
                  </a:ext>
                </a:extLst>
              </p:cNvPr>
              <p:cNvSpPr/>
              <p:nvPr/>
            </p:nvSpPr>
            <p:spPr bwMode="gray">
              <a:xfrm>
                <a:off x="5003635" y="211461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9" name="Oval 1038">
                <a:extLst>
                  <a:ext uri="{FF2B5EF4-FFF2-40B4-BE49-F238E27FC236}">
                    <a16:creationId xmlns:a16="http://schemas.microsoft.com/office/drawing/2014/main" id="{8CC72C2B-AC49-9AEC-C648-380FFD96EC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03635" y="2114618"/>
                <a:ext cx="216000" cy="216000"/>
              </a:xfrm>
              <a:prstGeom prst="ellipse">
                <a:avLst/>
              </a:prstGeom>
              <a:blipFill>
                <a:blip r:embed="rId9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0" name="Oval 1039">
                <a:extLst>
                  <a:ext uri="{FF2B5EF4-FFF2-40B4-BE49-F238E27FC236}">
                    <a16:creationId xmlns:a16="http://schemas.microsoft.com/office/drawing/2014/main" id="{F04E2F2E-560B-0642-C368-1A610F911FCB}"/>
                  </a:ext>
                </a:extLst>
              </p:cNvPr>
              <p:cNvSpPr/>
              <p:nvPr/>
            </p:nvSpPr>
            <p:spPr bwMode="gray">
              <a:xfrm>
                <a:off x="5580136" y="2114618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0" name="Oval 1039">
                <a:extLst>
                  <a:ext uri="{FF2B5EF4-FFF2-40B4-BE49-F238E27FC236}">
                    <a16:creationId xmlns:a16="http://schemas.microsoft.com/office/drawing/2014/main" id="{F04E2F2E-560B-0642-C368-1A610F911F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0136" y="2114618"/>
                <a:ext cx="216000" cy="2160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1" name="Oval 1040">
                <a:extLst>
                  <a:ext uri="{FF2B5EF4-FFF2-40B4-BE49-F238E27FC236}">
                    <a16:creationId xmlns:a16="http://schemas.microsoft.com/office/drawing/2014/main" id="{AE585AA5-1F2F-B67D-3836-7C826EAFECA1}"/>
                  </a:ext>
                </a:extLst>
              </p:cNvPr>
              <p:cNvSpPr/>
              <p:nvPr/>
            </p:nvSpPr>
            <p:spPr bwMode="gray">
              <a:xfrm>
                <a:off x="5003635" y="247466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1" name="Oval 1040">
                <a:extLst>
                  <a:ext uri="{FF2B5EF4-FFF2-40B4-BE49-F238E27FC236}">
                    <a16:creationId xmlns:a16="http://schemas.microsoft.com/office/drawing/2014/main" id="{AE585AA5-1F2F-B67D-3836-7C826EAFEC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003635" y="2474666"/>
                <a:ext cx="216000" cy="216000"/>
              </a:xfrm>
              <a:prstGeom prst="ellipse">
                <a:avLst/>
              </a:prstGeom>
              <a:blipFill>
                <a:blip r:embed="rId11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2" name="Oval 1041">
                <a:extLst>
                  <a:ext uri="{FF2B5EF4-FFF2-40B4-BE49-F238E27FC236}">
                    <a16:creationId xmlns:a16="http://schemas.microsoft.com/office/drawing/2014/main" id="{654B74F3-4D6E-6375-9FEC-D25764C09097}"/>
                  </a:ext>
                </a:extLst>
              </p:cNvPr>
              <p:cNvSpPr/>
              <p:nvPr/>
            </p:nvSpPr>
            <p:spPr bwMode="gray">
              <a:xfrm>
                <a:off x="5580136" y="2474666"/>
                <a:ext cx="216000" cy="216000"/>
              </a:xfrm>
              <a:prstGeom prst="ellipse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2" name="Oval 1041">
                <a:extLst>
                  <a:ext uri="{FF2B5EF4-FFF2-40B4-BE49-F238E27FC236}">
                    <a16:creationId xmlns:a16="http://schemas.microsoft.com/office/drawing/2014/main" id="{654B74F3-4D6E-6375-9FEC-D25764C090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0136" y="2474666"/>
                <a:ext cx="216000" cy="216000"/>
              </a:xfrm>
              <a:prstGeom prst="ellipse">
                <a:avLst/>
              </a:prstGeom>
              <a:blipFill>
                <a:blip r:embed="rId12"/>
                <a:stretch>
                  <a:fillRect l="-5263"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3" name="Oval 1042">
                <a:extLst>
                  <a:ext uri="{FF2B5EF4-FFF2-40B4-BE49-F238E27FC236}">
                    <a16:creationId xmlns:a16="http://schemas.microsoft.com/office/drawing/2014/main" id="{7204CD99-B7BE-7FD5-9A78-F4B2800A8142}"/>
                  </a:ext>
                </a:extLst>
              </p:cNvPr>
              <p:cNvSpPr/>
              <p:nvPr/>
            </p:nvSpPr>
            <p:spPr bwMode="gray">
              <a:xfrm>
                <a:off x="5292136" y="2834722"/>
                <a:ext cx="216000" cy="216000"/>
              </a:xfrm>
              <a:prstGeom prst="ellipse">
                <a:avLst/>
              </a:prstGeom>
              <a:solidFill>
                <a:schemeClr val="accent5"/>
              </a:solidFill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x-none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43" name="Oval 1042">
                <a:extLst>
                  <a:ext uri="{FF2B5EF4-FFF2-40B4-BE49-F238E27FC236}">
                    <a16:creationId xmlns:a16="http://schemas.microsoft.com/office/drawing/2014/main" id="{7204CD99-B7BE-7FD5-9A78-F4B2800A81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292136" y="2834722"/>
                <a:ext cx="216000" cy="2160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952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EA19EA13-65A2-4094-7AB5-6BA290C09576}"/>
              </a:ext>
            </a:extLst>
          </p:cNvPr>
          <p:cNvCxnSpPr>
            <a:stCxn id="1039" idx="4"/>
            <a:endCxn id="1041" idx="0"/>
          </p:cNvCxnSpPr>
          <p:nvPr/>
        </p:nvCxnSpPr>
        <p:spPr bwMode="gray">
          <a:xfrm>
            <a:off x="5111635" y="2330618"/>
            <a:ext cx="0" cy="144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Arrow Connector 1044">
            <a:extLst>
              <a:ext uri="{FF2B5EF4-FFF2-40B4-BE49-F238E27FC236}">
                <a16:creationId xmlns:a16="http://schemas.microsoft.com/office/drawing/2014/main" id="{1355A7DF-3AFC-DA1A-C88C-ECBB4BEF99C2}"/>
              </a:ext>
            </a:extLst>
          </p:cNvPr>
          <p:cNvCxnSpPr>
            <a:cxnSpLocks/>
            <a:stCxn id="1040" idx="4"/>
            <a:endCxn id="1042" idx="0"/>
          </p:cNvCxnSpPr>
          <p:nvPr/>
        </p:nvCxnSpPr>
        <p:spPr bwMode="gray">
          <a:xfrm>
            <a:off x="5688136" y="2330618"/>
            <a:ext cx="0" cy="144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23EAD48C-646F-08BF-13E9-E7842CA7881C}"/>
              </a:ext>
            </a:extLst>
          </p:cNvPr>
          <p:cNvCxnSpPr>
            <a:cxnSpLocks/>
            <a:stCxn id="1042" idx="4"/>
            <a:endCxn id="1043" idx="7"/>
          </p:cNvCxnSpPr>
          <p:nvPr/>
        </p:nvCxnSpPr>
        <p:spPr bwMode="gray">
          <a:xfrm flipH="1">
            <a:off x="5476504" y="2690666"/>
            <a:ext cx="211632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7CE4E5E8-933A-1C3F-CCE3-C22B8D80AF8D}"/>
              </a:ext>
            </a:extLst>
          </p:cNvPr>
          <p:cNvCxnSpPr>
            <a:cxnSpLocks/>
            <a:stCxn id="1041" idx="4"/>
            <a:endCxn id="1043" idx="1"/>
          </p:cNvCxnSpPr>
          <p:nvPr/>
        </p:nvCxnSpPr>
        <p:spPr bwMode="gray">
          <a:xfrm>
            <a:off x="5111635" y="2690666"/>
            <a:ext cx="212133" cy="175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9BA0EAF-0E7B-427E-1F6E-2CFC54D0A0E1}"/>
              </a:ext>
            </a:extLst>
          </p:cNvPr>
          <p:cNvCxnSpPr/>
          <p:nvPr/>
        </p:nvCxnSpPr>
        <p:spPr bwMode="gray">
          <a:xfrm flipH="1">
            <a:off x="1686127" y="2008922"/>
            <a:ext cx="146451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B2C46FA-759D-1A24-CF04-82FF44BA90C8}"/>
              </a:ext>
            </a:extLst>
          </p:cNvPr>
          <p:cNvCxnSpPr>
            <a:cxnSpLocks/>
          </p:cNvCxnSpPr>
          <p:nvPr/>
        </p:nvCxnSpPr>
        <p:spPr bwMode="gray">
          <a:xfrm flipH="1">
            <a:off x="2294670" y="2026778"/>
            <a:ext cx="146451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B16A83-29D0-FC0F-CA2D-E4919978EB69}"/>
              </a:ext>
            </a:extLst>
          </p:cNvPr>
          <p:cNvCxnSpPr/>
          <p:nvPr/>
        </p:nvCxnSpPr>
        <p:spPr bwMode="gray">
          <a:xfrm flipH="1">
            <a:off x="5114367" y="1995686"/>
            <a:ext cx="146451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5BF5E0-71CF-A936-227E-03E7CAC17206}"/>
              </a:ext>
            </a:extLst>
          </p:cNvPr>
          <p:cNvCxnSpPr>
            <a:cxnSpLocks/>
          </p:cNvCxnSpPr>
          <p:nvPr/>
        </p:nvCxnSpPr>
        <p:spPr bwMode="gray">
          <a:xfrm flipH="1">
            <a:off x="5722910" y="2013542"/>
            <a:ext cx="146451" cy="10364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D8D53F4-59FB-0A98-B0FD-3CE6CBF56D27}"/>
              </a:ext>
            </a:extLst>
          </p:cNvPr>
          <p:cNvSpPr txBox="1"/>
          <p:nvPr/>
        </p:nvSpPr>
        <p:spPr bwMode="gray">
          <a:xfrm>
            <a:off x="742187" y="1677196"/>
            <a:ext cx="2524508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b="1" dirty="0">
                <a:solidFill>
                  <a:srgbClr val="C00000"/>
                </a:solidFill>
              </a:rPr>
              <a:t>Before match</a:t>
            </a:r>
            <a:endParaRPr lang="x-none" sz="1000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CA48D4-8CF0-CCE7-9EE4-D113B40DA3FD}"/>
              </a:ext>
            </a:extLst>
          </p:cNvPr>
          <p:cNvSpPr txBox="1"/>
          <p:nvPr/>
        </p:nvSpPr>
        <p:spPr bwMode="gray">
          <a:xfrm>
            <a:off x="4024235" y="1671500"/>
            <a:ext cx="275180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b="1" dirty="0">
                <a:solidFill>
                  <a:srgbClr val="C00000"/>
                </a:solidFill>
              </a:rPr>
              <a:t>After match</a:t>
            </a:r>
            <a:endParaRPr lang="x-none" sz="1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3307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1030" grpId="0" animBg="1"/>
      <p:bldP spid="1031" grpId="0" animBg="1"/>
      <p:bldP spid="1032" grpId="0" animBg="1"/>
      <p:bldP spid="1033" grpId="0" animBg="1"/>
      <p:bldP spid="1034" grpId="0" animBg="1"/>
      <p:bldP spid="1039" grpId="0" animBg="1"/>
      <p:bldP spid="1040" grpId="0" animBg="1"/>
      <p:bldP spid="1041" grpId="0" animBg="1"/>
      <p:bldP spid="1042" grpId="0" animBg="1"/>
      <p:bldP spid="1043" grpId="0" animBg="1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58774" y="1239838"/>
            <a:ext cx="7093545" cy="3563938"/>
          </a:xfrm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b="1" dirty="0"/>
              <a:t>Graphical Models</a:t>
            </a:r>
          </a:p>
          <a:p>
            <a:pPr marL="614125" lvl="1" indent="-342900"/>
            <a:r>
              <a:rPr lang="en-US" altLang="x-none" sz="1200" dirty="0"/>
              <a:t>Simple way to visualize the product structure of a joint probability distribution</a:t>
            </a:r>
          </a:p>
          <a:p>
            <a:pPr marL="614125" lvl="1" indent="-342900"/>
            <a:r>
              <a:rPr lang="en-US" altLang="x-none" sz="1200" dirty="0"/>
              <a:t>Useful for modelling real-life data generating processes </a:t>
            </a:r>
          </a:p>
          <a:p>
            <a:pPr marL="614125" lvl="1" indent="-342900"/>
            <a:r>
              <a:rPr lang="en-US" altLang="x-none" sz="1200" dirty="0"/>
              <a:t>Allows both to test for conditional independence and efficient marginalization (next week)</a:t>
            </a:r>
            <a:endParaRPr lang="en-US" altLang="x-none" dirty="0"/>
          </a:p>
          <a:p>
            <a:pPr marL="342900" indent="-342900"/>
            <a:r>
              <a:rPr lang="en-US" altLang="x-none" b="1" dirty="0"/>
              <a:t>Bayesian Networks </a:t>
            </a:r>
          </a:p>
          <a:p>
            <a:pPr marL="614125" lvl="1" indent="-342900"/>
            <a:r>
              <a:rPr lang="en-US" altLang="x-none" sz="1200" dirty="0"/>
              <a:t>A directed acyclic graph where each edge points from a conditioning to a conditioned variable in the model</a:t>
            </a:r>
          </a:p>
          <a:p>
            <a:pPr marL="614125" lvl="1" indent="-342900"/>
            <a:r>
              <a:rPr lang="en-US" altLang="x-none" sz="1200" dirty="0"/>
              <a:t>An alternative representation (parameterization) of a joint probability (often easier to formulate for experts)</a:t>
            </a:r>
          </a:p>
          <a:p>
            <a:pPr marL="614125" lvl="1" indent="-342900"/>
            <a:r>
              <a:rPr lang="en-US" altLang="x-none" sz="1200" dirty="0"/>
              <a:t>A generative model of the data that can be easily sampled from (ancestral sampling)</a:t>
            </a:r>
            <a:endParaRPr lang="en-US" altLang="x-none" dirty="0"/>
          </a:p>
          <a:p>
            <a:pPr marL="342900" indent="-342900"/>
            <a:r>
              <a:rPr lang="en-US" altLang="x-none" b="1" dirty="0"/>
              <a:t>Conditional Independence</a:t>
            </a:r>
            <a:endParaRPr lang="en-US" altLang="x-none" dirty="0"/>
          </a:p>
          <a:p>
            <a:pPr marL="614125" lvl="1" indent="-342900"/>
            <a:r>
              <a:rPr lang="en-US" altLang="x-none" sz="1200" dirty="0"/>
              <a:t>d-separation is a set of simple rules (”blocking”) to read off conditional independence</a:t>
            </a:r>
          </a:p>
          <a:p>
            <a:pPr marL="614125" lvl="2" indent="-342900"/>
            <a:r>
              <a:rPr lang="en-US" altLang="x-none" sz="1200" dirty="0"/>
              <a:t>d-separation reduces conditional independence (exponentially hard complexity) to graph properties (polynomial complexity in sparse graphs)</a:t>
            </a:r>
          </a:p>
          <a:p>
            <a:pPr marL="0" indent="0">
              <a:buNone/>
            </a:pPr>
            <a:endParaRPr lang="en-US" altLang="x-non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57781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12</TotalTime>
  <Words>1665</Words>
  <Application>Microsoft Macintosh PowerPoint</Application>
  <PresentationFormat>On-screen Show (16:9)</PresentationFormat>
  <Paragraphs>530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Cambria Math</vt:lpstr>
      <vt:lpstr>Open Sans</vt:lpstr>
      <vt:lpstr>Verdana</vt:lpstr>
      <vt:lpstr>TEMPLATE DEF Faculty v2022</vt:lpstr>
      <vt:lpstr>Introduction to Probabilistic Machine Learning</vt:lpstr>
      <vt:lpstr>Overview</vt:lpstr>
      <vt:lpstr>Overview</vt:lpstr>
      <vt:lpstr>Graphical Models</vt:lpstr>
      <vt:lpstr>Overview</vt:lpstr>
      <vt:lpstr>Bayesian Networks</vt:lpstr>
      <vt:lpstr>Bayesian Network (Notation)</vt:lpstr>
      <vt:lpstr>Representation Complexity</vt:lpstr>
      <vt:lpstr>Sampling a Bayesian Network</vt:lpstr>
      <vt:lpstr>Sampling a Bayesian Network: Example</vt:lpstr>
      <vt:lpstr>Sampling a Bayesian Network: Example (ctd)</vt:lpstr>
      <vt:lpstr>Overview</vt:lpstr>
      <vt:lpstr>Conditional Independence</vt:lpstr>
      <vt:lpstr>Conditional Independence: Warm-Up I</vt:lpstr>
      <vt:lpstr>Conditional Independence: Warm-Up II</vt:lpstr>
      <vt:lpstr>Conditional Independence: d-separation</vt:lpstr>
      <vt:lpstr>Conditional Independence: Skill Example</vt:lpstr>
      <vt:lpstr>Summary</vt:lpstr>
      <vt:lpstr>See you next week!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304</cp:revision>
  <cp:lastPrinted>2014-05-07T12:19:03Z</cp:lastPrinted>
  <dcterms:created xsi:type="dcterms:W3CDTF">2022-08-10T08:10:37Z</dcterms:created>
  <dcterms:modified xsi:type="dcterms:W3CDTF">2026-04-24T11:10:37Z</dcterms:modified>
</cp:coreProperties>
</file>